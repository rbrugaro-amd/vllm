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4"/>
  </p:sldMasterIdLst>
  <p:notesMasterIdLst>
    <p:notesMasterId r:id="rId111"/>
  </p:notesMasterIdLst>
  <p:handoutMasterIdLst>
    <p:handoutMasterId r:id="rId112"/>
  </p:handoutMasterIdLst>
  <p:sldIdLst>
    <p:sldId id="256" r:id="rId72"/>
    <p:sldId id="257" r:id="rId73"/>
    <p:sldId id="258" r:id="rId74"/>
    <p:sldId id="259" r:id="rId75"/>
    <p:sldId id="260" r:id="rId76"/>
    <p:sldId id="261" r:id="rId77"/>
    <p:sldId id="262" r:id="rId78"/>
    <p:sldId id="263" r:id="rId79"/>
    <p:sldId id="264" r:id="rId80"/>
    <p:sldId id="265" r:id="rId81"/>
    <p:sldId id="266" r:id="rId82"/>
    <p:sldId id="267" r:id="rId83"/>
    <p:sldId id="268" r:id="rId84"/>
    <p:sldId id="269" r:id="rId85"/>
    <p:sldId id="270" r:id="rId86"/>
    <p:sldId id="271" r:id="rId87"/>
    <p:sldId id="272" r:id="rId88"/>
    <p:sldId id="273" r:id="rId89"/>
    <p:sldId id="274" r:id="rId90"/>
    <p:sldId id="275" r:id="rId91"/>
    <p:sldId id="276" r:id="rId92"/>
    <p:sldId id="277" r:id="rId93"/>
    <p:sldId id="278" r:id="rId94"/>
    <p:sldId id="279" r:id="rId95"/>
    <p:sldId id="280" r:id="rId96"/>
    <p:sldId id="281" r:id="rId9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A6A6A6"/>
    <a:srgbClr val="262626"/>
    <a:srgbClr val="404040"/>
    <a:srgbClr val="595959"/>
    <a:srgbClr val="8D8C95"/>
    <a:srgbClr val="000000"/>
    <a:srgbClr val="131313"/>
    <a:srgbClr val="242428"/>
    <a:srgbClr val="191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56" autoAdjust="0"/>
    <p:restoredTop sz="97843" autoAdjust="0"/>
  </p:normalViewPr>
  <p:slideViewPr>
    <p:cSldViewPr snapToGrid="0">
      <p:cViewPr varScale="1">
        <p:scale>
          <a:sx n="120" d="100"/>
          <a:sy n="120" d="100"/>
        </p:scale>
        <p:origin x="552" y="10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slideMaster" Target="slideMasters/slideMaster1.xml"/><Relationship Id="rId72" Type="http://schemas.openxmlformats.org/officeDocument/2006/relationships/slide" Target="slides/slide1.xml"/><Relationship Id="rId73" Type="http://schemas.openxmlformats.org/officeDocument/2006/relationships/slide" Target="slides/slide2.xml"/><Relationship Id="rId74" Type="http://schemas.openxmlformats.org/officeDocument/2006/relationships/slide" Target="slides/slide3.xml"/><Relationship Id="rId75" Type="http://schemas.openxmlformats.org/officeDocument/2006/relationships/slide" Target="slides/slide4.xml"/><Relationship Id="rId76" Type="http://schemas.openxmlformats.org/officeDocument/2006/relationships/slide" Target="slides/slide5.xml"/><Relationship Id="rId77" Type="http://schemas.openxmlformats.org/officeDocument/2006/relationships/slide" Target="slides/slide6.xml"/><Relationship Id="rId78" Type="http://schemas.openxmlformats.org/officeDocument/2006/relationships/slide" Target="slides/slide7.xml"/><Relationship Id="rId79" Type="http://schemas.openxmlformats.org/officeDocument/2006/relationships/slide" Target="slides/slide8.xml"/><Relationship Id="rId80" Type="http://schemas.openxmlformats.org/officeDocument/2006/relationships/slide" Target="slides/slide9.xml"/><Relationship Id="rId81" Type="http://schemas.openxmlformats.org/officeDocument/2006/relationships/slide" Target="slides/slide10.xml"/><Relationship Id="rId82" Type="http://schemas.openxmlformats.org/officeDocument/2006/relationships/slide" Target="slides/slide11.xml"/><Relationship Id="rId83" Type="http://schemas.openxmlformats.org/officeDocument/2006/relationships/slide" Target="slides/slide12.xml"/><Relationship Id="rId84" Type="http://schemas.openxmlformats.org/officeDocument/2006/relationships/slide" Target="slides/slide13.xml"/><Relationship Id="rId85" Type="http://schemas.openxmlformats.org/officeDocument/2006/relationships/slide" Target="slides/slide14.xml"/><Relationship Id="rId86" Type="http://schemas.openxmlformats.org/officeDocument/2006/relationships/slide" Target="slides/slide15.xml"/><Relationship Id="rId87" Type="http://schemas.openxmlformats.org/officeDocument/2006/relationships/slide" Target="slides/slide16.xml"/><Relationship Id="rId88" Type="http://schemas.openxmlformats.org/officeDocument/2006/relationships/slide" Target="slides/slide17.xml"/><Relationship Id="rId89" Type="http://schemas.openxmlformats.org/officeDocument/2006/relationships/slide" Target="slides/slide18.xml"/><Relationship Id="rId90" Type="http://schemas.openxmlformats.org/officeDocument/2006/relationships/slide" Target="slides/slide19.xml"/><Relationship Id="rId91" Type="http://schemas.openxmlformats.org/officeDocument/2006/relationships/slide" Target="slides/slide20.xml"/><Relationship Id="rId92" Type="http://schemas.openxmlformats.org/officeDocument/2006/relationships/slide" Target="slides/slide21.xml"/><Relationship Id="rId93" Type="http://schemas.openxmlformats.org/officeDocument/2006/relationships/slide" Target="slides/slide22.xml"/><Relationship Id="rId94" Type="http://schemas.openxmlformats.org/officeDocument/2006/relationships/slide" Target="slides/slide23.xml"/><Relationship Id="rId95" Type="http://schemas.openxmlformats.org/officeDocument/2006/relationships/slide" Target="slides/slide24.xml"/><Relationship Id="rId96" Type="http://schemas.openxmlformats.org/officeDocument/2006/relationships/slide" Target="slides/slide25.xml"/><Relationship Id="rId97" Type="http://schemas.openxmlformats.org/officeDocument/2006/relationships/slide" Target="slides/slide26.xml"/><Relationship Id="rId111" Type="http://schemas.openxmlformats.org/officeDocument/2006/relationships/notesMaster" Target="notesMasters/notesMaster1.xml"/><Relationship Id="rId112" Type="http://schemas.openxmlformats.org/officeDocument/2006/relationships/handoutMaster" Target="handoutMasters/handoutMaster1.xml"/><Relationship Id="rId113" Type="http://schemas.openxmlformats.org/officeDocument/2006/relationships/commentAuthors" Target="commentAuthors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10/3/2024 8:58 AM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10/3/2024 8:57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3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41215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37976E5-E6CB-397E-A330-6B9BD4B1D0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160F8F1-C493-D88D-26A1-8AA61020F1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1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35C897F-ECCA-6739-3983-20E116C36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B1C7EB2-548D-3E0E-D9FB-DE0161592D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E9BE59-7B37-CC03-6550-B446A9220F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60D2F94-2C4D-9570-C607-70F50D089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FA72176-ECF8-1028-871B-7D7A703E0A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76C0014-77A3-3CBF-6A68-4C2F91A10E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EDE7328-7664-110D-C86D-10F12D2556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92EB1-7762-6E34-6603-4920658B6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2DE360-D2EF-AF2E-F15C-F37A51488D6C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8535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730DB4B-D47A-1FB9-6C00-768AE6AB5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9013A53-2DC0-2140-6EBF-39B7C7920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182D955-6BFF-8B3F-67F1-E8DDAFDC30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AE9A46D-5DB8-6FFA-9954-99D324D77C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1990E6B-EC21-6FB4-1A1E-97A01F430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736B304-23B6-5C17-24DB-22B6C7F81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AA37CC2-90B6-2EBB-DDC2-F28606421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A7E00B5-D103-5653-28F7-1DA1C807E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EF81D11-C4D8-5132-02AB-062C81E3B1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A2802B-E53E-DE2F-F004-C87A3E6C6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7179CAA-7E14-18FA-D488-C772A909D1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4B6F08-BC59-2EF3-5DC2-EF289F453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9C8DC4-C1F0-82AC-370B-B9BD89BD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2CE2AF8-382D-16AD-B30D-3668C415DB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0BC915-575B-40EE-EBE5-8E4CCE3EE2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1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ACA855F-C6B4-9277-2823-187D3CB57A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1858FAC-5796-7F66-B950-39EC39E8F4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4F148-C6D8-A5D3-5FB2-5637B1F63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0" r:id="rId1"/>
    <p:sldLayoutId id="2147484928" r:id="rId2"/>
    <p:sldLayoutId id="2147484929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6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27" r:id="rId26"/>
    <p:sldLayoutId id="2147484671" r:id="rId27"/>
    <p:sldLayoutId id="2147484585" r:id="rId28"/>
    <p:sldLayoutId id="2147484924" r:id="rId29"/>
    <p:sldLayoutId id="2147484299" r:id="rId30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vLLM torch.compile &amp; Fusions on MI355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Bringing performance uplifts to vLLM through the compiler</a:t>
            </a:r>
          </a:p>
          <a:p>
            <a:pPr/>
            <a:r>
              <a:t>A deep dive, from concepts to a real fusion pass (PR #39242)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Part I — Foundations: CUDA Graphs vs torch.compile, vLLM philosophy</a:t>
            </a:r>
          </a:p>
          <a:p>
            <a:pPr/>
            <a:r>
              <a:t>Part II — How vLLM compilation works: piecewise, the flow, vLLM IR, nuances</a:t>
            </a:r>
          </a:p>
          <a:p>
            <a:pPr/>
            <a:r>
              <a:t>Part III — Worked example: MLA dual RMSNorm fusion (PR #39242)</a:t>
            </a:r>
          </a:p>
          <a:p>
            <a:pPr/>
            <a:r>
              <a:t>Part IV — Practical: compile config &amp; debug BKM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 — 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problems, two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F26522"/>
                </a:solidFill>
              </a:rPr>
              <a:t>CUDA Graphs</a:t>
            </a:r>
          </a:p>
          <a:p>
            <a:pPr lvl="1"/>
            <a:r>
              <a:t>Attacks CPU launch overhead</a:t>
            </a:r>
          </a:p>
          <a:p>
            <a:pPr lvl="1"/>
            <a:r>
              <a:t>Capture a launch sequence once, replay with ~zero CPU cost</a:t>
            </a:r>
          </a:p>
          <a:p>
            <a:pPr lvl="1"/>
            <a:r>
              <a:t>Constraints: static shapes, fixed addresses, GPU-only (no CPU branching)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F26522"/>
                </a:solidFill>
              </a:rPr>
              <a:t>torch.compile / Inductor</a:t>
            </a:r>
          </a:p>
          <a:p>
            <a:pPr lvl="1"/>
            <a:r>
              <a:t>Attacks kernel quality &amp; memory traffic</a:t>
            </a:r>
          </a:p>
          <a:p>
            <a:pPr lvl="1"/>
            <a:r>
              <a:t>Generates fused Triton/C++ kernels, fewer launches</a:t>
            </a:r>
          </a:p>
          <a:p>
            <a:pPr lvl="1"/>
            <a:r>
              <a:t>Can autotune; cuts full-precision memory round-trips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300"/>
              <a:t>Complementary, not either/or</a:t>
            </a:r>
            <a:r>
              <a:rPr sz="1300"/>
              <a:t> — vLLM layers both: Inductor-compiled subgraphs replayed inside CUDA graphs</a:t>
            </a:r>
          </a:p>
          <a:p>
            <a:pPr/>
            <a:r>
              <a:rPr b="1" sz="1300">
                <a:solidFill>
                  <a:srgbClr val="F26522"/>
                </a:solidFill>
              </a:rPr>
              <a:t>Thesis: make the model fast by teaching the compiler, not rewriting the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vLLM optimization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Separation of concerns</a:t>
            </a:r>
          </a:p>
          <a:p>
            <a:pPr lvl="1"/>
            <a:r>
              <a:t>Model code stays clean — math only; optimizations live in compiler passes</a:t>
            </a:r>
          </a:p>
          <a:p>
            <a:pPr/>
            <a:r>
              <a:rPr b="1"/>
              <a:t>Why it matters</a:t>
            </a:r>
          </a:p>
          <a:p>
            <a:pPr lvl="1"/>
            <a:r>
              <a:t>One pass benefits every model that hits the pattern — no per-model fused-kernel copies, abstractions intact</a:t>
            </a:r>
          </a:p>
          <a:p>
            <a:pPr/>
            <a:r>
              <a:t>Contrast with </a:t>
            </a:r>
            <a:r>
              <a:rPr b="1"/>
              <a:t>SGLang</a:t>
            </a:r>
            <a:r>
              <a:t>: leans on hand-written / templated fused kernels + model-level integration</a:t>
            </a:r>
          </a:p>
          <a:p>
            <a:pPr lvl="1"/>
            <a:r>
              <a:t>vLLM bets on a compiler pipeline + pattern-matching passes (generality &amp; maintainability vs. per-case control)</a:t>
            </a:r>
          </a:p>
          <a:p>
            <a:pPr/>
            <a:r>
              <a:t>This is exactly why AMD work ships as a </a:t>
            </a:r>
            <a:r>
              <a:rPr b="1">
                <a:solidFill>
                  <a:srgbClr val="F26522"/>
                </a:solidFill>
              </a:rPr>
              <a:t>pass</a:t>
            </a:r>
            <a:r>
              <a:t> (PR #39242), not a model edit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PassConfig &amp; optimization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Levels are presets of underlying flags; user-set flags always win</a:t>
            </a:r>
          </a:p>
          <a:p>
            <a:pPr lvl="1"/>
            <a:r>
              <a:t>-O0 nothing · -O1 compile + PIECEWISE graphs + fast fusions</a:t>
            </a:r>
          </a:p>
          <a:p>
            <a:pPr lvl="1"/>
            <a:r>
              <a:t>-O2 (default) + FULL_AND_PIECEWISE + more fusions/ranges · -O3 = O2 today</a:t>
            </a:r>
          </a:p>
          <a:p>
            <a:pPr/>
            <a:r>
              <a:rPr b="1"/>
              <a:t>Three buckets of fusions</a:t>
            </a:r>
          </a:p>
          <a:p>
            <a:pPr lvl="1"/>
            <a:r>
              <a:rPr b="1"/>
              <a:t>Always-on at a level</a:t>
            </a:r>
            <a:r>
              <a:t> (e.g. fuse_allreduce_rms at O2 on Hopper/Blackwell)</a:t>
            </a:r>
          </a:p>
          <a:p>
            <a:pPr lvl="1"/>
            <a:r>
              <a:rPr b="1"/>
              <a:t>Conditionally auto-enabled</a:t>
            </a:r>
            <a:r>
              <a:t> — platform / custom-op guards</a:t>
            </a:r>
          </a:p>
          <a:p>
            <a:pPr lvl="2"/>
            <a:r>
              <a:t>e.g. </a:t>
            </a:r>
            <a:r>
              <a:rPr>
                <a:latin typeface="Consolas"/>
              </a:rPr>
              <a:t>fuse_mla_dual_rms_norm</a:t>
            </a:r>
            <a:r>
              <a:t> only at O1+ on ROCm/AITER</a:t>
            </a:r>
          </a:p>
          <a:p>
            <a:pPr lvl="1"/>
            <a:r>
              <a:rPr b="1">
                <a:solidFill>
                  <a:srgbClr val="F26522"/>
                </a:solidFill>
              </a:rPr>
              <a:t>Never auto — opt-in only</a:t>
            </a:r>
            <a:r>
              <a:t> — no default at any level</a:t>
            </a:r>
          </a:p>
          <a:p>
            <a:pPr lvl="2"/>
            <a:r>
              <a:t>e.g. </a:t>
            </a:r>
            <a:r>
              <a:rPr>
                <a:latin typeface="Consolas"/>
              </a:rPr>
              <a:t>fuse_attn_quant</a:t>
            </a:r>
            <a:r>
              <a:t>, </a:t>
            </a:r>
            <a:r>
              <a:rPr>
                <a:latin typeface="Consolas"/>
              </a:rPr>
              <a:t>enable_sp</a:t>
            </a:r>
            <a:r>
              <a:t>, </a:t>
            </a:r>
            <a:r>
              <a:rPr>
                <a:latin typeface="Consolas"/>
              </a:rPr>
              <a:t>enable_qk_norm_rope_fusion</a:t>
            </a:r>
            <a:r>
              <a:t>  → must force via config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 — How vLLM Compilation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Piecewise compilation vs piecewise CUDA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rPr b="1"/>
              <a:t>Unifying idea: split the full graph at attention ops (splitting_ops)</a:t>
            </a:r>
          </a:p>
          <a:p>
            <a:pPr/>
            <a:r>
              <a:rPr b="1">
                <a:solidFill>
                  <a:srgbClr val="F26522"/>
                </a:solidFill>
              </a:rPr>
              <a:t>Piecewise compilation</a:t>
            </a:r>
          </a:p>
          <a:p>
            <a:pPr lvl="1"/>
            <a:r>
              <a:t>Inductor compiles each inter-attention subgraph independently</a:t>
            </a:r>
          </a:p>
          <a:p>
            <a:pPr lvl="1"/>
            <a:r>
              <a:t>Attention is an opaque custom op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F26522"/>
                </a:solidFill>
              </a:rPr>
              <a:t>Piecewise CUDA graph</a:t>
            </a:r>
          </a:p>
          <a:p>
            <a:pPr lvl="1"/>
            <a:r>
              <a:t>Capture graphs only for the compute-between-attentions pieces</a:t>
            </a:r>
          </a:p>
          <a:p>
            <a:pPr lvl="1"/>
            <a:r>
              <a:t>Attention runs eager → stays flexible</a:t>
            </a:r>
          </a:p>
          <a:p>
            <a:pPr/>
            <a:r>
              <a:rPr b="1"/>
              <a:t>Why attention is the seam</a:t>
            </a:r>
          </a:p>
          <a:p>
            <a:pPr lvl="1"/>
            <a:r>
              <a:t>Output shares the query's shape; between-attn work is token-wise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300"/>
              <a:t>Two independent size lists:</a:t>
            </a:r>
            <a:r>
              <a:rPr sz="1300"/>
              <a:t> </a:t>
            </a:r>
            <a:r>
              <a:rPr sz="1300">
                <a:latin typeface="Consolas"/>
              </a:rPr>
              <a:t>compile_sizes</a:t>
            </a:r>
            <a:r>
              <a:rPr sz="1300"/>
              <a:t> → Inductor specialized + autotuned kernels;  </a:t>
            </a:r>
            <a:r>
              <a:rPr sz="1300">
                <a:latin typeface="Consolas"/>
              </a:rPr>
              <a:t>cudagraph_capture_sizes</a:t>
            </a:r>
            <a:r>
              <a:rPr sz="1300"/>
              <a:t> → graphs captured, real batches padded 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is special: two axes (with AITER MLA)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t>Axis A — </a:t>
            </a:r>
            <a:r>
              <a:rPr b="1">
                <a:solidFill>
                  <a:srgbClr val="F26522"/>
                </a:solidFill>
              </a:rPr>
              <a:t>Inductor compilation</a:t>
            </a:r>
            <a:r>
              <a:t>: attention is ALWAYS excluded (opaque custom op; Dynamo won't trace in)</a:t>
            </a:r>
          </a:p>
          <a:p>
            <a:pPr/>
            <a:r>
              <a:t>Axis B — </a:t>
            </a:r>
            <a:r>
              <a:rPr b="1">
                <a:solidFill>
                  <a:srgbClr val="F26522"/>
                </a:solidFill>
              </a:rPr>
              <a:t>CUDA graph capture</a:t>
            </a:r>
            <a:r>
              <a:t>: conditional on backend capability + batch shape</a:t>
            </a:r>
          </a:p>
          <a:p>
            <a:pPr/>
            <a:r>
              <a:rPr b="1"/>
              <a:t>Concrete (resolves "but I see AITER MLA inside a CUDA graph!")</a:t>
            </a:r>
          </a:p>
          <a:p>
            <a:pPr lvl="1"/>
            <a:r>
              <a:t>Default </a:t>
            </a:r>
            <a:r>
              <a:rPr>
                <a:latin typeface="Consolas"/>
              </a:rPr>
              <a:t>FULL_AND_PIECEWISE</a:t>
            </a:r>
            <a:r>
              <a:t>: full graph for uniform decode, piecewise (attn eager) for prefill/mixed</a:t>
            </a:r>
          </a:p>
          <a:p>
            <a:pPr lvl="1"/>
            <a:r>
              <a:t>AITER MLA = </a:t>
            </a:r>
            <a:r>
              <a:rPr>
                <a:latin typeface="Consolas"/>
              </a:rPr>
              <a:t>UNIFORM_SINGLE_TOKEN_DECODE</a:t>
            </a:r>
            <a:r>
              <a:t> → captured in full graph during decode; eager for prefill/mixed (both true)</a:t>
            </a:r>
          </a:p>
          <a:p>
            <a:pPr/>
            <a:r>
              <a:rPr b="1">
                <a:solidFill>
                  <a:srgbClr val="F26522"/>
                </a:solidFill>
              </a:rPr>
              <a:t>Can't</a:t>
            </a:r>
            <a:r>
              <a:t>: capture ONE static graph valid across prefill/mixed — fixed addresses + launch geometry; prefill shapes vary per step</a:t>
            </a:r>
          </a:p>
          <a:p>
            <a:pPr/>
            <a:r>
              <a:t>Ladder: </a:t>
            </a:r>
            <a:r>
              <a:rPr>
                <a:latin typeface="Consolas"/>
              </a:rPr>
              <a:t>ALWAYS</a:t>
            </a:r>
            <a:r>
              <a:t> &gt; </a:t>
            </a:r>
            <a:r>
              <a:rPr>
                <a:latin typeface="Consolas"/>
              </a:rPr>
              <a:t>UNIFORM_BATCH</a:t>
            </a:r>
            <a:r>
              <a:t> &gt; </a:t>
            </a:r>
            <a:r>
              <a:rPr>
                <a:latin typeface="Consolas"/>
              </a:rPr>
              <a:t>UNIFORM_SINGLE_TOKEN_DECODE</a:t>
            </a:r>
            <a:r>
              <a:t> &gt; </a:t>
            </a:r>
            <a:r>
              <a:rPr>
                <a:latin typeface="Consolas"/>
              </a:rPr>
              <a:t>NEVER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compilation flow</a:t>
            </a:r>
          </a:p>
        </p:txBody>
      </p:sp>
      <p:pic>
        <p:nvPicPr>
          <p:cNvPr id="3" name="Picture 2" descr="desig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188720"/>
            <a:ext cx="9875520" cy="3169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200"/>
              <a:t>Mental model: </a:t>
            </a:r>
            <a:r>
              <a:rPr sz="1200"/>
              <a:t>Dynamo captures → </a:t>
            </a:r>
            <a:r>
              <a:rPr b="1" sz="1200"/>
              <a:t>vLLM backend splits</a:t>
            </a:r>
            <a:r>
              <a:rPr sz="1200"/>
              <a:t> → Inductor compiles each piece → vLLM wraps in CUDA graphs</a:t>
            </a:r>
          </a:p>
          <a:p>
            <a:pPr/>
            <a:r>
              <a:rPr sz="1200"/>
              <a:t>1 capture → </a:t>
            </a:r>
            <a:r>
              <a:rPr b="1" sz="1200">
                <a:solidFill>
                  <a:srgbClr val="F26522"/>
                </a:solidFill>
              </a:rPr>
              <a:t>Dynamo</a:t>
            </a:r>
            <a:r>
              <a:rPr sz="1200"/>
              <a:t>    2 splitting → </a:t>
            </a:r>
            <a:r>
              <a:rPr b="1" sz="1200">
                <a:solidFill>
                  <a:srgbClr val="F26522"/>
                </a:solidFill>
              </a:rPr>
              <a:t>vLLM backend</a:t>
            </a:r>
            <a:r>
              <a:rPr sz="1200"/>
              <a:t> (split @ attention)    4 wrapper → </a:t>
            </a:r>
            <a:r>
              <a:rPr b="1" sz="1200">
                <a:solidFill>
                  <a:srgbClr val="F26522"/>
                </a:solidFill>
              </a:rPr>
              <a:t>CUDAGraph replay</a:t>
            </a:r>
            <a:r>
              <a:rPr sz="1200"/>
              <a:t> (attn eager)</a:t>
            </a:r>
          </a:p>
          <a:p>
            <a:pPr/>
            <a:r>
              <a:rPr sz="1200"/>
              <a:t>3 "backend compile" (per piece): </a:t>
            </a:r>
            <a:r>
              <a:rPr sz="1200">
                <a:latin typeface="Consolas"/>
              </a:rPr>
              <a:t>pre_grad_custom_pass</a:t>
            </a:r>
            <a:r>
              <a:rPr sz="1200"/>
              <a:t> → </a:t>
            </a:r>
            <a:r>
              <a:rPr sz="1200"/>
              <a:t>AOTAutograd</a:t>
            </a:r>
            <a:r>
              <a:rPr sz="1200"/>
              <a:t> → </a:t>
            </a:r>
            <a:r>
              <a:rPr sz="1200">
                <a:latin typeface="Consolas"/>
              </a:rPr>
              <a:t>post_grad_custom_post_pass</a:t>
            </a:r>
            <a:r>
              <a:rPr sz="1200"/>
              <a:t> (</a:t>
            </a:r>
            <a:r>
              <a:rPr b="1" sz="1200"/>
              <a:t>fusions + IR lowering</a:t>
            </a:r>
            <a:r>
              <a:rPr sz="1200"/>
              <a:t>) → </a:t>
            </a:r>
            <a:r>
              <a:rPr b="1" sz="1200">
                <a:solidFill>
                  <a:srgbClr val="F26522"/>
                </a:solidFill>
              </a:rPr>
              <a:t>Inductor codegen</a:t>
            </a:r>
            <a:r>
              <a:rPr sz="1200"/>
              <a:t> (Triton)</a:t>
            </a:r>
          </a:p>
          <a:p>
            <a:pPr/>
            <a:r>
              <a:rPr b="1" sz="1200">
                <a:solidFill>
                  <a:srgbClr val="F26522"/>
                </a:solidFill>
              </a:rPr>
              <a:t>backend compile → ONE artifact / piece</a:t>
            </a:r>
            <a:r>
              <a:rPr sz="1200"/>
              <a:t> = a </a:t>
            </a:r>
            <a:r>
              <a:rPr b="1" sz="1200"/>
              <a:t>Python wrapper</a:t>
            </a:r>
            <a:r>
              <a:rPr sz="1200"/>
              <a:t> launching Triton </a:t>
            </a:r>
            <a:r>
              <a:rPr sz="1200"/>
              <a:t>+</a:t>
            </a:r>
            <a:r>
              <a:rPr sz="1200"/>
              <a:t> extern kernels (AITER / CK / cuBLAS); cached, then the CUDAGraph wrapper replays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facts about vLLM's 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F26522"/>
                </a:solidFill>
              </a:rPr>
              <a:t>vLLM-compile is NOT stock torch.compile</a:t>
            </a:r>
          </a:p>
          <a:p>
            <a:pPr lvl="1"/>
            <a:r>
              <a:t>Custom compiler on internal PyTorch Compile APIs: full-graph capture,</a:t>
            </a:r>
          </a:p>
          <a:p>
            <a:pPr lvl="1"/>
            <a:r>
              <a:t>custom split, custom passes, own cache</a:t>
            </a:r>
          </a:p>
          <a:p>
            <a:pPr/>
            <a:r>
              <a:t>Fusions live in </a:t>
            </a:r>
            <a:r>
              <a:rPr b="1"/>
              <a:t>pre-grad and post-grad custom passes</a:t>
            </a:r>
            <a:r>
              <a:t>  ← the hook for Part III</a:t>
            </a:r>
          </a:p>
          <a:p>
            <a:pPr/>
            <a:r>
              <a:rPr b="1"/>
              <a:t>Compilation cache</a:t>
            </a:r>
          </a:p>
          <a:p>
            <a:pPr lvl="1"/>
            <a:r>
              <a:t>Hash factors: configs + PyTorch config + traced files; cache dir is copyable</a:t>
            </a:r>
          </a:p>
          <a:p>
            <a:pPr lvl="1"/>
            <a:r>
              <a:t>Guarantee: all compilation finishes before serving any request</a:t>
            </a:r>
          </a:p>
          <a:p>
            <a:pPr/>
            <a:r>
              <a:t>Only symbolic dim is </a:t>
            </a:r>
            <a:r>
              <a:rPr b="1">
                <a:solidFill>
                  <a:srgbClr val="F26522"/>
                </a:solidFill>
              </a:rPr>
              <a:t>batch size (#tokens)</a:t>
            </a:r>
            <a:r>
              <a:t>; weights/buffers are static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vLLM IR — what it is &amp;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The gap it fills:</a:t>
            </a:r>
          </a:p>
          <a:p>
            <a:pPr lvl="1"/>
            <a:r>
              <a:t>Functional FX 'dialect' between low-level torch ops and vLLM layers (RMSNorm, quant)</a:t>
            </a:r>
          </a:p>
          <a:p>
            <a:pPr/>
            <a:r>
              <a:rPr b="1"/>
              <a:t>Separation: semantics vs implementation vs dispatch</a:t>
            </a:r>
          </a:p>
          <a:p>
            <a:pPr lvl="1"/>
            <a:r>
              <a:rPr>
                <a:latin typeface="Consolas"/>
              </a:rPr>
              <a:t>@register_op</a:t>
            </a:r>
            <a:r>
              <a:t> = semantics · </a:t>
            </a:r>
            <a:r>
              <a:rPr>
                <a:latin typeface="Consolas"/>
              </a:rPr>
              <a:t>register_impl</a:t>
            </a:r>
            <a:r>
              <a:t> = per-provider kernels (native, vllm_c, aiter, triton_*)</a:t>
            </a:r>
          </a:p>
          <a:p>
            <a:pPr lvl="1"/>
            <a:r>
              <a:t>Priority lists </a:t>
            </a:r>
            <a:r>
              <a:rPr>
                <a:latin typeface="Consolas"/>
              </a:rPr>
              <a:t>--ir-op-priority.&lt;op&gt;=aiter,vllm_c,native</a:t>
            </a:r>
            <a:r>
              <a:t> pick the kernel late</a:t>
            </a:r>
          </a:p>
          <a:p>
            <a:pPr/>
            <a:r>
              <a:rPr b="1">
                <a:solidFill>
                  <a:srgbClr val="F26522"/>
                </a:solidFill>
              </a:rPr>
              <a:t>Why it helps fusions</a:t>
            </a:r>
            <a:r>
              <a:t>: passes match ONE high-level op, not every kernel variant/shape → PR #39242 pattern stays simple</a:t>
            </a:r>
          </a:p>
          <a:p>
            <a:pPr/>
            <a:r>
              <a:t>Eager/compile consistency; maybe_inplace + clone elimination → zero-copy</a:t>
            </a:r>
          </a:p>
          <a:p>
            <a:pPr/>
            <a:r>
              <a:rPr b="1">
                <a:solidFill>
                  <a:srgbClr val="F26522"/>
                </a:solidFill>
              </a:rPr>
              <a:t>AMD angle</a:t>
            </a:r>
            <a:r>
              <a:t>: aiter provider, ROCm default priority lists, register AMD kernels out-of-tree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Functionalization &amp; maybe_inplace (why)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Functionalized graph = no in-place mutation</a:t>
            </a:r>
          </a:p>
          <a:p>
            <a:pPr lvl="1"/>
            <a:r>
              <a:t>Every op returns NEW tensors → compiler can safely reorder, fuse, pattern-match</a:t>
            </a:r>
          </a:p>
          <a:p>
            <a:pPr lvl="1"/>
            <a:r>
              <a:t>AOTAutograd performs this — it's why all post-grad fusion passes assume a functional graph</a:t>
            </a:r>
          </a:p>
          <a:p>
            <a:pPr lvl="1"/>
            <a:r>
              <a:t>in-place </a:t>
            </a:r>
            <a:r>
              <a:rPr>
                <a:latin typeface="Consolas"/>
              </a:rPr>
              <a:t>rms_norm(out, x, w)</a:t>
            </a:r>
            <a:r>
              <a:t>   →   functional   </a:t>
            </a:r>
            <a:r>
              <a:rPr>
                <a:latin typeface="Consolas"/>
              </a:rPr>
              <a:t>y = rms_norm(x, w)</a:t>
            </a:r>
          </a:p>
          <a:p>
            <a:pPr/>
            <a:r>
              <a:rPr b="1"/>
              <a:t>The tension:</a:t>
            </a:r>
            <a:r>
              <a:t> LLM inference wants IN-PLACE kernels (don't reallocate activations each layer) for memory</a:t>
            </a:r>
          </a:p>
          <a:p>
            <a:pPr/>
            <a:r>
              <a:rPr b="1">
                <a:solidFill>
                  <a:srgbClr val="F26522"/>
                </a:solidFill>
              </a:rPr>
              <a:t>maybe_inplace</a:t>
            </a:r>
            <a:r>
              <a:t>: caller donates inputs — "overwrite OK, I won't reuse them"</a:t>
            </a:r>
          </a:p>
          <a:p>
            <a:pPr lvl="1"/>
            <a:r>
              <a:t>pre-grad </a:t>
            </a:r>
            <a:r>
              <a:rPr>
                <a:latin typeface="Consolas"/>
              </a:rPr>
              <a:t>inplace functionalization</a:t>
            </a:r>
            <a:r>
              <a:t>: maybe_inplace → functional default, but RECORDS donated inputs</a:t>
            </a:r>
          </a:p>
          <a:p>
            <a:pPr lvl="1"/>
            <a:r>
              <a:t>after lowering to an in-place kernel, clone-elimination drops the safety clones → zero-copy</a:t>
            </a:r>
          </a:p>
          <a:p>
            <a:pPr/>
            <a:r>
              <a:rPr b="1">
                <a:solidFill>
                  <a:srgbClr val="F26522"/>
                </a:solidFill>
              </a:rPr>
              <a:t>Benefit:</a:t>
            </a:r>
            <a:r>
              <a:t> in-place memory efficiency AND a functional graph the compiler can optimize — identical semantics eager &amp; compiled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Nuances: control flow &amp; black-box 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Full-graph requirement:</a:t>
            </a:r>
          </a:p>
          <a:p>
            <a:pPr lvl="1"/>
            <a:r>
              <a:t>Forward must capture into one graph dynamic on #tokens</a:t>
            </a:r>
          </a:p>
          <a:p>
            <a:pPr lvl="1"/>
            <a:r>
              <a:t>Branching on a dynamic shape (</a:t>
            </a:r>
            <a:r>
              <a:rPr>
                <a:latin typeface="Consolas"/>
              </a:rPr>
              <a:t>if x.size(0) % 128 == 0</a:t>
            </a:r>
            <a:r>
              <a:t>) → guards / silent bugs</a:t>
            </a:r>
          </a:p>
          <a:p>
            <a:pPr/>
            <a:r>
              <a:rPr b="1"/>
              <a:t>Two escape hatches</a:t>
            </a:r>
          </a:p>
          <a:p>
            <a:pPr lvl="1"/>
            <a:r>
              <a:t>Rewrite to avoid the branch</a:t>
            </a:r>
          </a:p>
          <a:p>
            <a:pPr lvl="1"/>
            <a:r>
              <a:rPr b="1">
                <a:solidFill>
                  <a:srgbClr val="F26522"/>
                </a:solidFill>
              </a:rPr>
              <a:t>Wrap branchy/opaque logic into a custom op</a:t>
            </a:r>
            <a:r>
              <a:t> — Dynamo won't trace inside (a 'black box')</a:t>
            </a:r>
          </a:p>
          <a:p>
            <a:pPr/>
            <a:r>
              <a:rPr b="1"/>
              <a:t>Why register a black-box op</a:t>
            </a:r>
          </a:p>
          <a:p>
            <a:pPr lvl="1"/>
            <a:r>
              <a:t>Hides un-traceable logic; defines a clean fusion/replacement target; controls split boundary</a:t>
            </a:r>
          </a:p>
          <a:p>
            <a:pPr lvl="1"/>
            <a:r>
              <a:t>Your fused op </a:t>
            </a:r>
            <a:r>
              <a:rPr b="1"/>
              <a:t>IS</a:t>
            </a:r>
            <a:r>
              <a:t> a black-box op (Part III)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III — Worked Example: MLA Dual RMSNorm Fusion (PR #39242)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MLA attention runs TWO RMS norms per layer</a:t>
            </a:r>
          </a:p>
          <a:p>
            <a:pPr lvl="1"/>
            <a:r>
              <a:rPr>
                <a:latin typeface="Consolas"/>
              </a:rPr>
              <a:t>q_a_layernorm</a:t>
            </a:r>
            <a:r>
              <a:t> (on compressed q) + </a:t>
            </a:r>
            <a:r>
              <a:rPr>
                <a:latin typeface="Consolas"/>
              </a:rPr>
              <a:t>kv_a_layernorm</a:t>
            </a:r>
            <a:r>
              <a:t> (on compressed kv)</a:t>
            </a:r>
          </a:p>
          <a:p>
            <a:pPr lvl="1"/>
            <a:r>
              <a:t>Kimi-K2 = 61 layers → </a:t>
            </a:r>
            <a:r>
              <a:rPr b="1"/>
              <a:t>122 norm kernel launches per forward</a:t>
            </a:r>
          </a:p>
          <a:p>
            <a:pPr/>
            <a:r>
              <a:rPr b="1">
                <a:solidFill>
                  <a:srgbClr val="F26522"/>
                </a:solidFill>
              </a:rPr>
              <a:t>Goal: fuse the pair → ONE AITER fused_qk_rmsnorm HIP kernel</a:t>
            </a:r>
            <a:r>
              <a:t>  (2 launches → 1 per layer)</a:t>
            </a:r>
          </a:p>
          <a:p>
            <a:pPr/>
            <a:r>
              <a:t>Ships as a </a:t>
            </a:r>
            <a:r>
              <a:rPr b="1"/>
              <a:t>compiler pass</a:t>
            </a:r>
            <a:r>
              <a:t>, not a model edit (philosophy callback)</a:t>
            </a:r>
          </a:p>
          <a:p>
            <a:pPr/>
            <a:r>
              <a:t>Honest scope: native </a:t>
            </a:r>
            <a:r>
              <a:rPr>
                <a:latin typeface="Consolas"/>
              </a:rPr>
              <a:t>rms_norm</a:t>
            </a:r>
            <a:r>
              <a:t> lets Inductor auto-fuse these; this pass targets the</a:t>
            </a:r>
          </a:p>
          <a:p>
            <a:pPr lvl="1"/>
            <a:r>
              <a:t>AITER custom-op case that Inductor cannot fuse on its own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pattern, in graph terms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buNone/>
            </a:pPr>
            <a:r>
              <a:rPr sz="1100">
                <a:solidFill>
                  <a:srgbClr val="5E5E5E"/>
                </a:solidFill>
                <a:latin typeface="Consolas"/>
              </a:rPr>
              <a:t># Unfused FX subgraph (vllm_ir stage)</a:t>
            </a:r>
          </a:p>
          <a:p>
            <a:pPr>
              <a:buNone/>
            </a:pPr>
            <a:r>
              <a:rPr sz="1100">
                <a:latin typeface="Consolas"/>
              </a:rPr>
              <a:t>gemm -&gt; split([q_dim, kv_dim])</a:t>
            </a:r>
          </a:p>
          <a:p>
            <a:pPr>
              <a:buNone/>
            </a:pPr>
            <a:r>
              <a:rPr sz="1100">
                <a:latin typeface="Consolas"/>
              </a:rPr>
              <a:t>   +-- q_c     -&gt; vllm_ir.rms_norm(q_c,  q_w,  eps)            # norm #1</a:t>
            </a:r>
          </a:p>
          <a:p>
            <a:pPr>
              <a:buNone/>
            </a:pPr>
            <a:r>
              <a:rPr sz="1100">
                <a:latin typeface="Consolas"/>
              </a:rPr>
              <a:t>   +-- kv_lora -&gt; split([kv_c_dim, k_pe_dim])</a:t>
            </a:r>
          </a:p>
          <a:p>
            <a:pPr>
              <a:buNone/>
            </a:pPr>
            <a:r>
              <a:rPr sz="1100">
                <a:latin typeface="Consolas"/>
              </a:rPr>
              <a:t>                   +-- kv_c -&gt; vllm_ir.rms_norm(kv_c, kv_w, eps)  # norm #2</a:t>
            </a:r>
          </a:p>
          <a:p>
            <a:pPr>
              <a:buNone/>
            </a:pPr>
            <a:r>
              <a:rPr sz="1100">
                <a:latin typeface="Consolas"/>
              </a:rPr>
              <a:t>                   +-- k_pe                                     # passthrough</a:t>
            </a:r>
          </a:p>
          <a:p>
            <a:pPr>
              <a:buNone/>
            </a:pPr>
            <a:r>
              <a:rPr sz="1100">
                <a:latin typeface="Consolas"/>
              </a:rPr>
              <a:t> </a:t>
            </a:r>
          </a:p>
          <a:p>
            <a:pPr>
              <a:buNone/>
            </a:pPr>
            <a:r>
              <a:rPr sz="1100">
                <a:solidFill>
                  <a:srgbClr val="5E5E5E"/>
                </a:solidFill>
                <a:latin typeface="Consolas"/>
              </a:rPr>
              <a:t># Fused: one connected subgraph -&gt; one op</a:t>
            </a:r>
          </a:p>
          <a:p>
            <a:pPr>
              <a:buNone/>
            </a:pPr>
            <a:r>
              <a:rPr sz="1100">
                <a:latin typeface="Consolas"/>
              </a:rPr>
              <a:t>q_normed, kv_normed = fused_mla_dual_rms_norm(</a:t>
            </a:r>
          </a:p>
          <a:p>
            <a:pPr>
              <a:buNone/>
            </a:pPr>
            <a:r>
              <a:rPr sz="1100">
                <a:latin typeface="Consolas"/>
              </a:rPr>
              <a:t>    q_c, q_w, kv_c, kv_w, eps, eps)        # single AITER HIP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300">
                <a:solidFill>
                  <a:srgbClr val="F26522"/>
                </a:solidFill>
              </a:rPr>
              <a:t>Matches on vllm_ir.rms_norm — one clean high-level target (Part II payoff)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PR changes (8 files)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>
                <a:latin typeface="Consolas"/>
              </a:rPr>
              <a:t>vllm/_aiter_ops.py</a:t>
            </a:r>
            <a:r>
              <a:t> — register </a:t>
            </a:r>
            <a:r>
              <a:rPr>
                <a:latin typeface="Consolas"/>
              </a:rPr>
              <a:t>fused_mla_dual_rms_norm</a:t>
            </a:r>
            <a:r>
              <a:t> custom op (wraps AITER kernel)</a:t>
            </a:r>
          </a:p>
          <a:p>
            <a:pPr/>
            <a:r>
              <a:rPr>
                <a:latin typeface="Consolas"/>
              </a:rPr>
              <a:t>…/passes/fusion/rocm_aiter_fusion.py</a:t>
            </a:r>
            <a:r>
              <a:t> — pattern + pass via </a:t>
            </a:r>
            <a:r>
              <a:rPr>
                <a:latin typeface="Consolas"/>
              </a:rPr>
              <a:t>register_replacement</a:t>
            </a:r>
          </a:p>
          <a:p>
            <a:pPr/>
            <a:r>
              <a:rPr>
                <a:latin typeface="Consolas"/>
              </a:rPr>
              <a:t>vllm/config/compilation.py</a:t>
            </a:r>
            <a:r>
              <a:t> — </a:t>
            </a:r>
            <a:r>
              <a:rPr>
                <a:latin typeface="Consolas"/>
              </a:rPr>
              <a:t>fuse_mla_dual_rms_norm</a:t>
            </a:r>
            <a:r>
              <a:t> PassConfig flag + ROCm guard</a:t>
            </a:r>
          </a:p>
          <a:p>
            <a:pPr/>
            <a:r>
              <a:rPr>
                <a:latin typeface="Consolas"/>
              </a:rPr>
              <a:t>vllm/config/vllm.py</a:t>
            </a:r>
            <a:r>
              <a:t> — optimization-level defaults (auto-enable O1+ on ROCm/AITER)</a:t>
            </a:r>
          </a:p>
          <a:p>
            <a:pPr/>
            <a:r>
              <a:rPr>
                <a:latin typeface="Consolas"/>
              </a:rPr>
              <a:t>…/passes/pass_manager.py</a:t>
            </a:r>
            <a:r>
              <a:t> — register the pass when enabled</a:t>
            </a:r>
          </a:p>
          <a:p>
            <a:pPr/>
            <a:r>
              <a:rPr>
                <a:latin typeface="Consolas"/>
              </a:rPr>
              <a:t>tests/compile/passes/test_fuse_mla_dual_rms_norm.py</a:t>
            </a:r>
            <a:r>
              <a:t> — pattern fires, ops replaced, numerics</a:t>
            </a:r>
          </a:p>
          <a:p>
            <a:pPr/>
            <a:r>
              <a:rPr>
                <a:latin typeface="Consolas"/>
              </a:rPr>
              <a:t>docs/design/fusions.md</a:t>
            </a:r>
            <a:r>
              <a:t> + </a:t>
            </a:r>
            <a:r>
              <a:rPr>
                <a:latin typeface="Consolas"/>
              </a:rPr>
              <a:t>optimization_levels.md</a:t>
            </a:r>
            <a:r>
              <a:t> — documentation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fused custom op (a "black box" to Dynamo)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buNone/>
            </a:pPr>
            <a:r>
              <a:rPr sz="1100">
                <a:solidFill>
                  <a:srgbClr val="5E5E5E"/>
                </a:solidFill>
                <a:latin typeface="Consolas"/>
              </a:rPr>
              <a:t># vllm/_aiter_ops.py</a:t>
            </a:r>
          </a:p>
          <a:p>
            <a:pPr>
              <a:buNone/>
            </a:pPr>
            <a:r>
              <a:rPr sz="1100">
                <a:latin typeface="Consolas"/>
              </a:rPr>
              <a:t>def _fused_mla_dual_rms_norm_impl(x1, x1_weight, x2, x2_weight,</a:t>
            </a:r>
          </a:p>
          <a:p>
            <a:pPr>
              <a:buNone/>
            </a:pPr>
            <a:r>
              <a:rPr sz="1100">
                <a:latin typeface="Consolas"/>
              </a:rPr>
              <a:t>                                  x1_epsilon, x2_epsilon):</a:t>
            </a:r>
          </a:p>
          <a:p>
            <a:pPr>
              <a:buNone/>
            </a:pPr>
            <a:r>
              <a:rPr sz="1100">
                <a:latin typeface="Consolas"/>
              </a:rPr>
              <a:t>    import aiter.ops.fused_qk_norm_rope_cache_quant as aiter_ops</a:t>
            </a:r>
          </a:p>
          <a:p>
            <a:pPr>
              <a:buNone/>
            </a:pPr>
            <a:r>
              <a:rPr sz="1100">
                <a:latin typeface="Consolas"/>
              </a:rPr>
              <a:t>    return aiter_ops._fused_qk_rmsnorm(</a:t>
            </a:r>
          </a:p>
          <a:p>
            <a:pPr>
              <a:buNone/>
            </a:pPr>
            <a:r>
              <a:rPr sz="1100">
                <a:latin typeface="Consolas"/>
              </a:rPr>
              <a:t>        q=x1, q_weight=x1_weight, q_eps=x1_epsilon,</a:t>
            </a:r>
          </a:p>
          <a:p>
            <a:pPr>
              <a:buNone/>
            </a:pPr>
            <a:r>
              <a:rPr sz="1100">
                <a:latin typeface="Consolas"/>
              </a:rPr>
              <a:t>        k=x2, k_weight=x2_weight, k_eps=x2_epsilon)</a:t>
            </a:r>
          </a:p>
          <a:p>
            <a:pPr>
              <a:buNone/>
            </a:pPr>
            <a:r>
              <a:rPr sz="1100">
                <a:latin typeface="Consolas"/>
              </a:rPr>
              <a:t> </a:t>
            </a:r>
          </a:p>
          <a:p>
            <a:pPr>
              <a:buNone/>
            </a:pPr>
            <a:r>
              <a:rPr sz="1100">
                <a:latin typeface="Consolas"/>
              </a:rPr>
              <a:t>def _fused_mla_dual_rms_norm_fake(x1, x1_weight, x2, x2_weight, e1, e2):</a:t>
            </a:r>
          </a:p>
          <a:p>
            <a:pPr>
              <a:buNone/>
            </a:pPr>
            <a:r>
              <a:rPr sz="1100">
                <a:latin typeface="Consolas"/>
              </a:rPr>
              <a:t>    return (torch.empty_like(x1), torch.empty_like(x2))   # shapes for compile</a:t>
            </a:r>
          </a:p>
          <a:p>
            <a:pPr>
              <a:buNone/>
            </a:pPr>
            <a:r>
              <a:rPr sz="1100">
                <a:latin typeface="Consolas"/>
              </a:rPr>
              <a:t> </a:t>
            </a:r>
          </a:p>
          <a:p>
            <a:pPr>
              <a:buNone/>
            </a:pPr>
            <a:r>
              <a:rPr sz="1100">
                <a:latin typeface="Consolas"/>
              </a:rPr>
              <a:t>direct_register_custom_op(</a:t>
            </a:r>
          </a:p>
          <a:p>
            <a:pPr>
              <a:buNone/>
            </a:pPr>
            <a:r>
              <a:rPr sz="1100">
                <a:latin typeface="Consolas"/>
              </a:rPr>
              <a:t>    op_name="fused_mla_dual_rms_norm",</a:t>
            </a:r>
          </a:p>
          <a:p>
            <a:pPr>
              <a:buNone/>
            </a:pPr>
            <a:r>
              <a:rPr sz="1100">
                <a:latin typeface="Consolas"/>
              </a:rPr>
              <a:t>    op_func=_fused_mla_dual_rms_norm_impl,</a:t>
            </a:r>
          </a:p>
          <a:p>
            <a:pPr>
              <a:buNone/>
            </a:pPr>
            <a:r>
              <a:rPr sz="1100">
                <a:latin typeface="Consolas"/>
              </a:rPr>
              <a:t>    mutates_args=[],</a:t>
            </a:r>
          </a:p>
          <a:p>
            <a:pPr>
              <a:buNone/>
            </a:pPr>
            <a:r>
              <a:rPr sz="1100">
                <a:latin typeface="Consolas"/>
              </a:rPr>
              <a:t>    fake_impl=_fused_mla_dual_rms_norm_fake)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pattern-matcher pass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buNone/>
            </a:pPr>
            <a:r>
              <a:rPr sz="1000">
                <a:solidFill>
                  <a:srgbClr val="5E5E5E"/>
                </a:solidFill>
                <a:latin typeface="Consolas"/>
              </a:rPr>
              <a:t># vllm/compilation/passes/fusion/rocm_aiter_fusion.py</a:t>
            </a:r>
          </a:p>
          <a:p>
            <a:pPr>
              <a:buNone/>
            </a:pPr>
            <a:r>
              <a:rPr sz="1000">
                <a:latin typeface="Consolas"/>
              </a:rPr>
              <a:t>class MLADualRMSNormPattern(VllmPatternReplacement):</a:t>
            </a:r>
          </a:p>
          <a:p>
            <a:pPr>
              <a:buNone/>
            </a:pPr>
            <a:r>
              <a:rPr sz="1000">
                <a:latin typeface="Consolas"/>
              </a:rPr>
              <a:t>    def pattern(projected, q_weight, kv_weight):</a:t>
            </a:r>
          </a:p>
          <a:p>
            <a:pPr>
              <a:buNone/>
            </a:pPr>
            <a:r>
              <a:rPr sz="1000">
                <a:latin typeface="Consolas"/>
              </a:rPr>
              <a:t>        q_c, kv_lora = projected.split([q_dim, kv_dim], dim=-1)</a:t>
            </a:r>
          </a:p>
          <a:p>
            <a:pPr>
              <a:buNone/>
            </a:pPr>
            <a:r>
              <a:rPr sz="1000">
                <a:latin typeface="Consolas"/>
              </a:rPr>
              <a:t>        kv_c, k_pe   = kv_lora.split([kv_c_dim, k_pe_dim], dim=-1)</a:t>
            </a:r>
          </a:p>
          <a:p>
            <a:pPr>
              <a:buNone/>
            </a:pPr>
            <a:r>
              <a:rPr sz="1000">
                <a:latin typeface="Consolas"/>
              </a:rPr>
              <a:t>        q_normed  = vllm.ir.ops.rms_norm(q_c,  q_weight,  eps)   # MATCH</a:t>
            </a:r>
          </a:p>
          <a:p>
            <a:pPr>
              <a:buNone/>
            </a:pPr>
            <a:r>
              <a:rPr sz="1000">
                <a:latin typeface="Consolas"/>
              </a:rPr>
              <a:t>        kv_normed = vllm.ir.ops.rms_norm(kv_c, kv_weight, eps)</a:t>
            </a:r>
          </a:p>
          <a:p>
            <a:pPr>
              <a:buNone/>
            </a:pPr>
            <a:r>
              <a:rPr sz="1000">
                <a:latin typeface="Consolas"/>
              </a:rPr>
              <a:t>        return q_normed, kv_normed, k_pe</a:t>
            </a:r>
          </a:p>
          <a:p>
            <a:pPr>
              <a:buNone/>
            </a:pPr>
            <a:r>
              <a:rPr sz="1000">
                <a:latin typeface="Consolas"/>
              </a:rPr>
              <a:t> </a:t>
            </a:r>
          </a:p>
          <a:p>
            <a:pPr>
              <a:buNone/>
            </a:pPr>
            <a:r>
              <a:rPr sz="1000">
                <a:latin typeface="Consolas"/>
              </a:rPr>
              <a:t>    def replacement(projected, q_weight, kv_weight):</a:t>
            </a:r>
          </a:p>
          <a:p>
            <a:pPr>
              <a:buNone/>
            </a:pPr>
            <a:r>
              <a:rPr sz="1000">
                <a:latin typeface="Consolas"/>
              </a:rPr>
              <a:t>        q_c, kv_lora = projected.split([q_dim, kv_dim], dim=-1)</a:t>
            </a:r>
          </a:p>
          <a:p>
            <a:pPr>
              <a:buNone/>
            </a:pPr>
            <a:r>
              <a:rPr sz="1000">
                <a:latin typeface="Consolas"/>
              </a:rPr>
              <a:t>        kv_c, k_pe   = kv_lora.split([kv_c_dim, k_pe_dim], dim=-1)</a:t>
            </a:r>
          </a:p>
          <a:p>
            <a:pPr>
              <a:buNone/>
            </a:pPr>
            <a:r>
              <a:rPr sz="1000">
                <a:latin typeface="Consolas"/>
              </a:rPr>
              <a:t>        q_normed, kv_normed = torch.ops.vllm.fused_mla_dual_rms_norm(</a:t>
            </a:r>
          </a:p>
          <a:p>
            <a:pPr>
              <a:buNone/>
            </a:pPr>
            <a:r>
              <a:rPr sz="1000">
                <a:latin typeface="Consolas"/>
              </a:rPr>
              <a:t>            q_c, q_weight, kv_c, kv_weight, eps, eps)           # REPLACE</a:t>
            </a:r>
          </a:p>
          <a:p>
            <a:pPr>
              <a:buNone/>
            </a:pPr>
            <a:r>
              <a:rPr sz="1000">
                <a:latin typeface="Consolas"/>
              </a:rPr>
              <a:t>        return q_normed, kv_normed, k_pe</a:t>
            </a:r>
          </a:p>
          <a:p>
            <a:pPr>
              <a:buNone/>
            </a:pPr>
            <a:r>
              <a:rPr sz="1000">
                <a:latin typeface="Consolas"/>
              </a:rPr>
              <a:t> </a:t>
            </a:r>
          </a:p>
          <a:p>
            <a:pPr>
              <a:buNone/>
            </a:pPr>
            <a:r>
              <a:rPr sz="1000">
                <a:latin typeface="Consolas"/>
              </a:rPr>
              <a:t>class MLADualRMSNormFusionPass(VllmFusionPatternMatcherPass):</a:t>
            </a:r>
          </a:p>
          <a:p>
            <a:pPr>
              <a:buNone/>
            </a:pPr>
            <a:r>
              <a:rPr sz="1000">
                <a:latin typeface="Consolas"/>
              </a:rPr>
              <a:t>    def __init__(self, config):</a:t>
            </a:r>
          </a:p>
          <a:p>
            <a:pPr>
              <a:buNone/>
            </a:pPr>
            <a:r>
              <a:rPr sz="1000">
                <a:latin typeface="Consolas"/>
              </a:rPr>
              <a:t>        super().__init__(config, "mla_dual_rms_norm_fusion_pass")</a:t>
            </a:r>
          </a:p>
          <a:p>
            <a:pPr>
              <a:buNone/>
            </a:pPr>
            <a:r>
              <a:rPr sz="1000">
                <a:latin typeface="Consolas"/>
              </a:rPr>
              <a:t>        for epsilon in [1e-5, 1e-6]:                  # eps baked into pattern</a:t>
            </a:r>
          </a:p>
          <a:p>
            <a:pPr>
              <a:buNone/>
            </a:pPr>
            <a:r>
              <a:rPr sz="1000">
                <a:latin typeface="Consolas"/>
              </a:rPr>
              <a:t>            self.register(MLADualRMSNormPattern(epsilon))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Wiring &amp; gating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buNone/>
            </a:pPr>
            <a:r>
              <a:rPr sz="1100">
                <a:solidFill>
                  <a:srgbClr val="5E5E5E"/>
                </a:solidFill>
                <a:latin typeface="Consolas"/>
              </a:rPr>
              <a:t># config/compilation.py — the PassConfig flag (+ ROCm guard)</a:t>
            </a:r>
          </a:p>
          <a:p>
            <a:pPr>
              <a:buNone/>
            </a:pPr>
            <a:r>
              <a:rPr sz="1100">
                <a:latin typeface="Consolas"/>
              </a:rPr>
              <a:t>fuse_mla_dual_rms_norm: bool = None</a:t>
            </a:r>
          </a:p>
          <a:p>
            <a:pPr>
              <a:buNone/>
            </a:pPr>
            <a:r>
              <a:rPr sz="1100">
                <a:latin typeface="Consolas"/>
              </a:rPr>
              <a:t>if self.fuse_mla_dual_rms_norm and not current_platform.is_rocm():</a:t>
            </a:r>
          </a:p>
          <a:p>
            <a:pPr>
              <a:buNone/>
            </a:pPr>
            <a:r>
              <a:rPr sz="1100">
                <a:latin typeface="Consolas"/>
              </a:rPr>
              <a:t>    self.fuse_mla_dual_rms_norm = False        # auto-disable off-ROCm</a:t>
            </a:r>
          </a:p>
          <a:p>
            <a:pPr>
              <a:buNone/>
            </a:pPr>
            <a:r>
              <a:rPr sz="1100">
                <a:latin typeface="Consolas"/>
              </a:rPr>
              <a:t> </a:t>
            </a:r>
          </a:p>
          <a:p>
            <a:pPr>
              <a:buNone/>
            </a:pPr>
            <a:r>
              <a:rPr sz="1100">
                <a:solidFill>
                  <a:srgbClr val="5E5E5E"/>
                </a:solidFill>
                <a:latin typeface="Consolas"/>
              </a:rPr>
              <a:t># config/vllm.py — optimization-level defaults</a:t>
            </a:r>
          </a:p>
          <a:p>
            <a:pPr>
              <a:buNone/>
            </a:pPr>
            <a:r>
              <a:rPr sz="1100">
                <a:solidFill>
                  <a:srgbClr val="5E5E5E"/>
                </a:solidFill>
                <a:latin typeface="Consolas"/>
              </a:rPr>
              <a:t>#   O0: False   |   O1/O2/O3: enable_mla_dual_rms_norm_fusion (ROCm+AITER)</a:t>
            </a:r>
          </a:p>
          <a:p>
            <a:pPr>
              <a:buNone/>
            </a:pPr>
            <a:r>
              <a:rPr sz="1100">
                <a:latin typeface="Consolas"/>
              </a:rPr>
              <a:t> </a:t>
            </a:r>
          </a:p>
          <a:p>
            <a:pPr>
              <a:buNone/>
            </a:pPr>
            <a:r>
              <a:rPr sz="1100">
                <a:solidFill>
                  <a:srgbClr val="5E5E5E"/>
                </a:solidFill>
                <a:latin typeface="Consolas"/>
              </a:rPr>
              <a:t># passes/pass_manager.py — register only when truly available</a:t>
            </a:r>
          </a:p>
          <a:p>
            <a:pPr>
              <a:buNone/>
            </a:pPr>
            <a:r>
              <a:rPr sz="1100">
                <a:latin typeface="Consolas"/>
              </a:rPr>
              <a:t>if (self.pass_config.fuse_mla_dual_rms_norm</a:t>
            </a:r>
          </a:p>
          <a:p>
            <a:pPr>
              <a:buNone/>
            </a:pPr>
            <a:r>
              <a:rPr sz="1100">
                <a:latin typeface="Consolas"/>
              </a:rPr>
              <a:t>        and rocm_aiter_ops.is_enabled()</a:t>
            </a:r>
          </a:p>
          <a:p>
            <a:pPr>
              <a:buNone/>
            </a:pPr>
            <a:r>
              <a:rPr sz="1100">
                <a:latin typeface="Consolas"/>
              </a:rPr>
              <a:t>        and check_aiter_fused_qk_rmsnorm()):</a:t>
            </a:r>
          </a:p>
          <a:p>
            <a:pPr>
              <a:buNone/>
            </a:pPr>
            <a:r>
              <a:rPr sz="1100">
                <a:latin typeface="Consolas"/>
              </a:rPr>
              <a:t>    self.passes += [MLADualRMSNormFusionPass(config)]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Verifying the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Unit test</a:t>
            </a:r>
            <a:r>
              <a:t> — </a:t>
            </a:r>
            <a:r>
              <a:rPr>
                <a:latin typeface="Consolas"/>
              </a:rPr>
              <a:t>test_fuse_mla_dual_rms_norm</a:t>
            </a:r>
          </a:p>
          <a:p>
            <a:pPr lvl="1"/>
            <a:r>
              <a:t>before: </a:t>
            </a:r>
            <a:r>
              <a:rPr>
                <a:latin typeface="Consolas"/>
              </a:rPr>
              <a:t>vllm_ir.rms_norm</a:t>
            </a:r>
            <a:r>
              <a:t>  →  after: </a:t>
            </a:r>
            <a:r>
              <a:rPr>
                <a:latin typeface="Consolas"/>
              </a:rPr>
              <a:t>vllm.fused_mla_dual_rms_norm</a:t>
            </a:r>
          </a:p>
          <a:p>
            <a:pPr lvl="1"/>
            <a:r>
              <a:t>asserts </a:t>
            </a:r>
            <a:r>
              <a:rPr>
                <a:latin typeface="Consolas"/>
              </a:rPr>
              <a:t>matched_count == 1</a:t>
            </a:r>
            <a:r>
              <a:t> and numerics close (atol/rtol 1e-2)</a:t>
            </a:r>
          </a:p>
          <a:p>
            <a:pPr/>
            <a:r>
              <a:rPr b="1"/>
              <a:t>Fires on all TP workers:</a:t>
            </a:r>
            <a:r>
              <a:t> </a:t>
            </a:r>
            <a:r>
              <a:rPr>
                <a:latin typeface="Consolas"/>
              </a:rPr>
              <a:t>MLADualRMSNormFusionPass: fused 1 q/kv norm pair(s)</a:t>
            </a:r>
          </a:p>
          <a:p>
            <a:pPr/>
            <a:r>
              <a:rPr b="1"/>
              <a:t>Trace:</a:t>
            </a:r>
            <a:r>
              <a:t> two CK RMSNorm kernels → one </a:t>
            </a:r>
            <a:r>
              <a:rPr>
                <a:latin typeface="Consolas"/>
              </a:rPr>
              <a:t>aiter::fused_qk_rmsnorm_kernel</a:t>
            </a:r>
          </a:p>
          <a:p>
            <a:pPr/>
            <a:r>
              <a:rPr b="1"/>
              <a:t>Accuracy gate:</a:t>
            </a:r>
            <a:r>
              <a:t> GSM8K 0.94 ≥ 0.90 (Kimi-K2-Thinking-MXFP4, TP=4, MI355X)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— Kimi-K2-Thinking-MXFP4, TP=4, MI355X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/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Baseline (tok/s/GPU)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QK Fusion (tok/s/GPU)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Uplift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1k/1k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1.02x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1k/1k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1.02x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8k/1k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1.03x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8k/1k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1.02x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300">
                <a:solidFill>
                  <a:srgbClr val="F26522"/>
                </a:solidFill>
              </a:rPr>
              <a:t>Geomean ~1.02x — small op; the value here is the reusable methodology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IV — Practical: Config &amp; Debug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Compilation config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>
              <a:buNone/>
            </a:pPr>
            <a:r>
              <a:rPr sz="900">
                <a:solidFill>
                  <a:srgbClr val="5E5E5E"/>
                </a:solidFill>
                <a:latin typeface="Consolas"/>
              </a:rPr>
              <a:t># Enable just the PR's fusion (from PR #39242):</a:t>
            </a:r>
          </a:p>
          <a:p>
            <a:pPr>
              <a:buNone/>
            </a:pPr>
            <a:r>
              <a:rPr sz="900">
                <a:latin typeface="Consolas"/>
              </a:rPr>
              <a:t>--compilation-config='{"pass_config":</a:t>
            </a:r>
          </a:p>
          <a:p>
            <a:pPr>
              <a:buNone/>
            </a:pPr>
            <a:r>
              <a:rPr sz="900">
                <a:latin typeface="Consolas"/>
              </a:rPr>
              <a:t>  {"fuse_mla_dual_rms_norm": true}}'</a:t>
            </a:r>
          </a:p>
          <a:p>
            <a:pPr>
              <a:buNone/>
            </a:pPr>
            <a:r>
              <a:rPr sz="900">
                <a:latin typeface="Consolas"/>
              </a:rPr>
              <a:t> </a:t>
            </a:r>
          </a:p>
          <a:p>
            <a:pPr>
              <a:buNone/>
            </a:pPr>
            <a:r>
              <a:rPr sz="900">
                <a:solidFill>
                  <a:srgbClr val="5E5E5E"/>
                </a:solidFill>
                <a:latin typeface="Consolas"/>
              </a:rPr>
              <a:t># A fuller real-world config:</a:t>
            </a:r>
          </a:p>
          <a:p>
            <a:pPr>
              <a:buNone/>
            </a:pPr>
            <a:r>
              <a:rPr sz="900">
                <a:latin typeface="Consolas"/>
              </a:rPr>
              <a:t>--compilation-config '{</a:t>
            </a:r>
          </a:p>
          <a:p>
            <a:pPr>
              <a:buNone/>
            </a:pPr>
            <a:r>
              <a:rPr sz="900">
                <a:latin typeface="Consolas"/>
              </a:rPr>
              <a:t>  "mode": 3,</a:t>
            </a:r>
          </a:p>
          <a:p>
            <a:pPr>
              <a:buNone/>
            </a:pPr>
            <a:r>
              <a:rPr sz="900">
                <a:latin typeface="Consolas"/>
              </a:rPr>
              <a:t>  "pass_config": {</a:t>
            </a:r>
          </a:p>
          <a:p>
            <a:pPr>
              <a:buNone/>
            </a:pPr>
            <a:r>
              <a:rPr sz="900">
                <a:latin typeface="Consolas"/>
              </a:rPr>
              <a:t>    "fuse_allreduce_rms": true,</a:t>
            </a:r>
          </a:p>
          <a:p>
            <a:pPr>
              <a:buNone/>
            </a:pPr>
            <a:r>
              <a:rPr sz="900">
                <a:latin typeface="Consolas"/>
              </a:rPr>
              <a:t>    "eliminate_noops": true,</a:t>
            </a:r>
          </a:p>
          <a:p>
            <a:pPr>
              <a:buNone/>
            </a:pPr>
            <a:r>
              <a:rPr sz="900">
                <a:latin typeface="Consolas"/>
              </a:rPr>
              <a:t>    "fuse_rope_kvcache_cat_mla": true</a:t>
            </a:r>
          </a:p>
          <a:p>
            <a:pPr>
              <a:buNone/>
            </a:pPr>
            <a:r>
              <a:rPr sz="900">
                <a:latin typeface="Consolas"/>
              </a:rPr>
              <a:t>  },</a:t>
            </a:r>
          </a:p>
          <a:p>
            <a:pPr>
              <a:buNone/>
            </a:pPr>
            <a:r>
              <a:rPr sz="900">
                <a:latin typeface="Consolas"/>
              </a:rPr>
              <a:t>  "custom_ops": ["none"],</a:t>
            </a:r>
          </a:p>
          <a:p>
            <a:pPr>
              <a:buNone/>
            </a:pPr>
            <a:r>
              <a:rPr sz="900">
                <a:latin typeface="Consolas"/>
              </a:rPr>
              <a:t>  "compile_ranges_endpoints": [64],</a:t>
            </a:r>
          </a:p>
          <a:p>
            <a:pPr>
              <a:buNone/>
            </a:pPr>
            <a:r>
              <a:rPr sz="900">
                <a:latin typeface="Consolas"/>
              </a:rPr>
              <a:t>  "cudagraph_mode": "FULL_AND_PIECEWISE",</a:t>
            </a:r>
          </a:p>
          <a:p>
            <a:pPr>
              <a:buNone/>
            </a:pPr>
            <a:r>
              <a:rPr sz="900">
                <a:latin typeface="Consolas"/>
              </a:rPr>
              <a:t>  "use_inductor_graph_partition": true</a:t>
            </a:r>
          </a:p>
          <a:p>
            <a:pPr>
              <a:buNone/>
            </a:pPr>
            <a:r>
              <a:rPr sz="900">
                <a:latin typeface="Consolas"/>
              </a:rPr>
              <a:t>}'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>
                <a:latin typeface="Consolas"/>
              </a:rPr>
              <a:t>mode: 3</a:t>
            </a:r>
            <a:r>
              <a:t> = </a:t>
            </a:r>
            <a:r>
              <a:rPr b="1"/>
              <a:t>VLLM_COMPILE</a:t>
            </a:r>
            <a:r>
              <a:t> (vLLM custom backend)</a:t>
            </a:r>
          </a:p>
          <a:p>
            <a:pPr/>
            <a:r>
              <a:rPr>
                <a:latin typeface="Consolas"/>
              </a:rPr>
              <a:t>pass_config</a:t>
            </a:r>
            <a:r>
              <a:t>: toggle individual fusions</a:t>
            </a:r>
          </a:p>
          <a:p>
            <a:pPr lvl="1"/>
            <a:r>
              <a:t>fuse_allreduce_rms · eliminate_noops · fuse_rope_kvcache_cat_mla</a:t>
            </a:r>
          </a:p>
          <a:p>
            <a:pPr lvl="1"/>
            <a:r>
              <a:rPr b="1">
                <a:solidFill>
                  <a:srgbClr val="F26522"/>
                </a:solidFill>
              </a:rPr>
              <a:t>fuse_mla_dual_rms_norm</a:t>
            </a:r>
            <a:r>
              <a:t> = our PR (ROCm/AITER)</a:t>
            </a:r>
          </a:p>
          <a:p>
            <a:pPr/>
            <a:r>
              <a:rPr>
                <a:latin typeface="Consolas"/>
              </a:rPr>
              <a:t>custom_ops ["none"]</a:t>
            </a:r>
            <a:r>
              <a:t>: disable custom ops → Inductor lowers &amp; fuses</a:t>
            </a:r>
          </a:p>
          <a:p>
            <a:pPr lvl="1"/>
            <a:r>
              <a:t>add an op back (e.g. +rms_norm) only when a pattern fusion needs it</a:t>
            </a:r>
          </a:p>
          <a:p>
            <a:pPr/>
            <a:r>
              <a:rPr>
                <a:latin typeface="Consolas"/>
              </a:rPr>
              <a:t>compile_ranges_endpoints [64]</a:t>
            </a:r>
          </a:p>
          <a:p>
            <a:pPr lvl="1"/>
            <a:r>
              <a:t>specialized graph [1,64], general [65, max]</a:t>
            </a:r>
          </a:p>
          <a:p>
            <a:pPr/>
            <a:r>
              <a:rPr>
                <a:latin typeface="Consolas"/>
              </a:rPr>
              <a:t>cudagraph_mode FULL_AND_PIECEWISE</a:t>
            </a:r>
            <a:r>
              <a:t>: full graph (uniform decode) + piecewise (prefill/mixed)</a:t>
            </a:r>
          </a:p>
          <a:p>
            <a:pPr/>
            <a:r>
              <a:rPr>
                <a:latin typeface="Consolas"/>
              </a:rPr>
              <a:t>use_inductor_graph_partition</a:t>
            </a:r>
            <a:r>
              <a:t>: passes see full graph (torch≥2.9)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useful knobs (quick 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F26522"/>
                </a:solidFill>
              </a:rPr>
              <a:t>Optimization levels</a:t>
            </a:r>
            <a:r>
              <a:t>: </a:t>
            </a:r>
            <a:r>
              <a:rPr>
                <a:latin typeface="Consolas"/>
              </a:rPr>
              <a:t>-O0</a:t>
            </a:r>
            <a:r>
              <a:t> / </a:t>
            </a:r>
            <a:r>
              <a:rPr>
                <a:latin typeface="Consolas"/>
              </a:rPr>
              <a:t>-O1</a:t>
            </a:r>
            <a:r>
              <a:t> / </a:t>
            </a:r>
            <a:r>
              <a:rPr>
                <a:latin typeface="Consolas"/>
              </a:rPr>
              <a:t>-O2</a:t>
            </a:r>
            <a:r>
              <a:t> (default) / </a:t>
            </a:r>
            <a:r>
              <a:rPr>
                <a:latin typeface="Consolas"/>
              </a:rPr>
              <a:t>-O3</a:t>
            </a:r>
            <a:r>
              <a:t> — presets of the flags below</a:t>
            </a:r>
          </a:p>
          <a:p>
            <a:pPr/>
            <a:r>
              <a:rPr>
                <a:latin typeface="Consolas"/>
              </a:rPr>
              <a:t>-cc.backend=eager</a:t>
            </a:r>
            <a:r>
              <a:t> — turn off TorchInductor (keep Dynamo)</a:t>
            </a:r>
          </a:p>
          <a:p>
            <a:pPr/>
            <a:r>
              <a:rPr>
                <a:latin typeface="Consolas"/>
              </a:rPr>
              <a:t>compile_sizes=[1,2,4,8]</a:t>
            </a:r>
            <a:r>
              <a:t> — specialized + autotuned kernels per size</a:t>
            </a:r>
          </a:p>
          <a:p>
            <a:pPr/>
            <a:r>
              <a:rPr>
                <a:latin typeface="Consolas"/>
              </a:rPr>
              <a:t>cudagraph_capture_sizes=[...]</a:t>
            </a:r>
            <a:r>
              <a:t> — control which sizes get captured</a:t>
            </a:r>
          </a:p>
          <a:p>
            <a:pPr/>
            <a:r>
              <a:rPr>
                <a:latin typeface="Consolas"/>
              </a:rPr>
              <a:t>--ir-op-priority.rms_norm=aiter,vllm_c,native</a:t>
            </a:r>
            <a:r>
              <a:t> — pick kernel per op</a:t>
            </a:r>
          </a:p>
          <a:p>
            <a:pPr/>
            <a:r>
              <a:rPr>
                <a:latin typeface="Consolas"/>
              </a:rPr>
              <a:t>dynamic_shapes_config.type</a:t>
            </a:r>
            <a:r>
              <a:t> = </a:t>
            </a:r>
            <a:r>
              <a:rPr>
                <a:latin typeface="Consolas"/>
              </a:rPr>
              <a:t>backed</a:t>
            </a:r>
            <a:r>
              <a:t> / </a:t>
            </a:r>
            <a:r>
              <a:rPr>
                <a:latin typeface="Consolas"/>
              </a:rPr>
              <a:t>unbacked</a:t>
            </a:r>
            <a:r>
              <a:t> / </a:t>
            </a:r>
            <a:r>
              <a:rPr>
                <a:latin typeface="Consolas"/>
              </a:rPr>
              <a:t>backed_size_oblivious</a:t>
            </a:r>
          </a:p>
          <a:p>
            <a:pPr/>
            <a:r>
              <a:rPr>
                <a:latin typeface="Consolas"/>
              </a:rPr>
              <a:t>compile_cache_save_format=unpacked</a:t>
            </a:r>
            <a:r>
              <a:t> — editable Inductor output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porate White Background" id="{2BE342DC-F9A5-4FEC-B921-56B388585240}" vid="{CCA63B32-F645-4883-88F8-8EACC2C0D8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slideVersion":1,"isValidatorEnabled":false,"isLocked":false,"elementsMetadata":[],"slideId":"637629098472291984","enableDocumentContentUpdater":tru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6.xml><?xml version="1.0" encoding="utf-8"?>
<TemplafySlideTemplateConfiguration><![CDATA[{"slideVersion":1,"isValidatorEnabled":false,"isLocked":false,"elementsMetadata":[],"slideId":"637629098472115478","enableDocumentContentUpdater":tru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],"slideId":"637629098472251078","enableDocumentContentUpdater":tru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],"slideId":"637629098472106825","enableDocumentContentUpdater":true,"version":"2.0"}]]></TemplafySlideTemplateConfiguration>
</file>

<file path=customXml/item12.xml><?xml version="1.0" encoding="utf-8"?>
<TemplafySlideTemplateConfiguration><![CDATA[{"slideVersion":1,"isValidatorEnabled":false,"isLocked":false,"elementsMetadata":[],"slideId":"637629098472214232","enableDocumentContentUpdater":tru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slideVersion":1,"isValidatorEnabled":false,"isLocked":false,"elementsMetadata":[],"slideId":"637629098472298093","enableDocumentContentUpdater":true,"version":"2.0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slideVersion":1,"isValidatorEnabled":false,"isLocked":false,"elementsMetadata":[],"slideId":"637629098472211994","enableDocumentContentUpdater":true,"version":"2.0"}]]></TemplafySlideTemplateConfiguration>
</file>

<file path=customXml/item17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TemplateConfiguration><![CDATA[{"slideVersion":1,"isValidatorEnabled":false,"isLocked":false,"elementsMetadata":[],"slideId":"637629098472208672","enableDocumentContentUpdater":true,"version":"2.0"}]]></TemplafySlideTemplateConfiguration>
</file>

<file path=customXml/item20.xml><?xml version="1.0" encoding="utf-8"?>
<TemplafySlideTemplateConfiguration><![CDATA[{"slideVersion":1,"isValidatorEnabled":false,"isLocked":false,"elementsMetadata":[],"slideId":"637629098472286320","enableDocumentContentUpdater":true,"version":"2.0"}]]></TemplafySlideTemplateConfiguration>
</file>

<file path=customXml/item21.xml><?xml version="1.0" encoding="utf-8"?>
<TemplafySlideTemplateConfiguration><![CDATA[{"slideVersion":1,"isValidatorEnabled":false,"isLocked":false,"elementsMetadata":[],"slideId":"637629098472003968","enableDocumentContentUpdater":true,"version":"2.0"}]]></TemplafySlideTemplateConfiguration>
</file>

<file path=customXml/item22.xml><?xml version="1.0" encoding="utf-8"?>
<TemplafySlideTemplateConfiguration><![CDATA[{"slideVersion":1,"isValidatorEnabled":false,"isLocked":false,"elementsMetadata":[],"slideId":"637629098472211994","enableDocumentContentUpdater":tru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TemplateConfiguration><![CDATA[{"slideVersion":1,"isValidatorEnabled":false,"isLocked":false,"elementsMetadata":[],"slideId":"637629098472302020","enableDocumentContentUpdater":true,"version":"2.0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8.xml><?xml version="1.0" encoding="utf-8"?>
<TemplafySlideTemplateConfiguration><![CDATA[{"slideVersion":1,"isValidatorEnabled":false,"isLocked":false,"elementsMetadata":[],"slideId":"637629098472101399","enableDocumentContentUpdater":true,"version":"2.0"}]]></TemplafySlideTemplate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TemplateConfiguration><![CDATA[{"slideVersion":1,"isValidatorEnabled":false,"isLocked":false,"elementsMetadata":[],"slideId":"637629098472229203","enableDocumentContentUpdater":true,"version":"2.0"}]]></TemplafySlideTemplateConfiguration>
</file>

<file path=customXml/item31.xml><?xml version="1.0" encoding="utf-8"?>
<TemplafySlideTemplateConfiguration><![CDATA[{"slideVersion":1,"isValidatorEnabled":false,"isLocked":false,"elementsMetadata":[],"slideId":"637629098472216437","enableDocumentContentUpdater":true,"version":"2.0"}]]></TemplafySlideTemplateConfiguration>
</file>

<file path=customXml/item32.xml><?xml version="1.0" encoding="utf-8"?>
<TemplafySlideTemplateConfiguration><![CDATA[{"slideVersion":1,"isValidatorEnabled":false,"isLocked":false,"elementsMetadata":[],"slideId":"637629098472289287","enableDocumentContentUpdater":true,"version":"2.0"}]]></TemplafySlideTemplateConfiguration>
</file>

<file path=customXml/item33.xml><?xml version="1.0" encoding="utf-8"?>
<TemplafySlideTemplateConfiguration><![CDATA[{"slideVersion":1,"isValidatorEnabled":false,"isLocked":false,"elementsMetadata":[],"slideId":"637629098472294646","enableDocumentContentUpdater":true,"version":"2.0"}]]></TemplafySlideTemplateConfiguration>
</file>

<file path=customXml/item3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5.xml><?xml version="1.0" encoding="utf-8"?>
<TemplafySlideFormConfiguration><![CDATA[{"formFields":[],"formDataEntries":[]}]]></TemplafySlideForm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TemplateConfiguration><![CDATA[{"slideVersion":1,"isValidatorEnabled":false,"isLocked":false,"elementsMetadata":[],"slideId":"637629098472259969","enableDocumentContentUpdater":true,"version":"2.0"}]]></TemplafySlideTemplate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TemplateConfiguration><![CDATA[{"slideVersion":1,"isValidatorEnabled":false,"isLocked":false,"elementsMetadata":[],"slideId":"637629098472110405","enableDocumentContentUpdater":true,"version":"2.0"}]]></TemplafySlideTemplateConfiguration>
</file>

<file path=customXml/item42.xml><?xml version="1.0" encoding="utf-8"?>
<TemplafySlideTemplateConfiguration><![CDATA[{"slideVersion":1,"isValidatorEnabled":false,"isLocked":false,"elementsMetadata":[],"slideId":"637629098472104042","enableDocumentContentUpdater":true,"version":"2.0"}]]></TemplafySlideTemplateConfiguration>
</file>

<file path=customXml/item43.xml><?xml version="1.0" encoding="utf-8"?>
<TemplafySlideFormConfiguration><![CDATA[{"formFields":[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FormConfiguration><![CDATA[{"formFields":[],"formDataEntries":[]}]]></TemplafySlideFormConfiguration>
</file>

<file path=customXml/item46.xml><?xml version="1.0" encoding="utf-8"?>
<TemplafySlideTemplateConfiguration><![CDATA[{"slideVersion":1,"isValidatorEnabled":false,"isLocked":false,"elementsMetadata":[],"slideId":"637629098472095892","enableDocumentContentUpdater":true,"version":"2.0"}]]></TemplafySlideTemplateConfiguration>
</file>

<file path=customXml/item47.xml><?xml version="1.0" encoding="utf-8"?>
<TemplafySlideFormConfiguration><![CDATA[{"formFields":[],"formDataEntries":[]}]]></TemplafySlideFormConfiguration>
</file>

<file path=customXml/item48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49.xml><?xml version="1.0" encoding="utf-8"?>
<TemplafySlideTemplateConfiguration><![CDATA[{"slideVersion":1,"isValidatorEnabled":false,"isLocked":false,"elementsMetadata":[],"slideId":"637629098472116884","enableDocumentContentUpdater":true,"version":"2.0"}]]></TemplafySlideTemplateConfiguration>
</file>

<file path=customXml/item50.xml><?xml version="1.0" encoding="utf-8"?>
<TemplafySlideFormConfiguration><![CDATA[{"formFields":[],"formDataEntries":[]}]]></TemplafySlideFormConfiguration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TemplateConfiguration><![CDATA[{"slideVersion":1,"isValidatorEnabled":false,"isLocked":false,"elementsMetadata":[],"slideId":"637629098472239985","enableDocumentContentUpdater":true,"version":"2.0"}]]></TemplafySlideTemplateConfiguration>
</file>

<file path=customXml/item53.xml><?xml version="1.0" encoding="utf-8"?>
<TemplafySlideTemplateConfiguration><![CDATA[{"slideVersion":1,"isValidatorEnabled":false,"isLocked":false,"elementsMetadata":[],"slideId":"637629098472306593","enableDocumentContentUpdater":true,"version":"2.0"}]]></TemplafySlideTemplate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TemplateConfiguration><![CDATA[{"slideVersion":1,"isValidatorEnabled":false,"isLocked":false,"elementsMetadata":[],"slideId":"637629098472221519","enableDocumentContentUpdater":true,"version":"2.0"}]]></TemplafySlideTemplateConfiguration>
</file>

<file path=customXml/item56.xml><?xml version="1.0" encoding="utf-8"?>
<TemplafySlideTemplateConfiguration><![CDATA[{"slideVersion":1,"isValidatorEnabled":false,"isLocked":false,"elementsMetadata":[],"slideId":"637629098472294991","enableDocumentContentUpdater":true,"version":"2.0"}]]></TemplafySlideTemplateConfiguration>
</file>

<file path=customXml/item57.xml><?xml version="1.0" encoding="utf-8"?>
<TemplafySlideTemplateConfiguration><![CDATA[{"slideVersion":1,"isValidatorEnabled":false,"isLocked":false,"elementsMetadata":[],"slideId":"637629098472204811","enableDocumentContentUpdater":true,"version":"2.0"}]]></TemplafySlideTemplateConfiguration>
</file>

<file path=customXml/item58.xml><?xml version="1.0" encoding="utf-8"?>
<TemplafySlideTemplateConfiguration><![CDATA[{"slideVersion":1,"isValidatorEnabled":false,"isLocked":false,"elementsMetadata":[],"slideId":"637629098472113973","enableDocumentContentUpdater":true,"version":"2.0"}]]></TemplafySlideTemplateConfiguration>
</file>

<file path=customXml/item59.xml><?xml version="1.0" encoding="utf-8"?>
<TemplafySlideFormConfiguration><![CDATA[{"formFields":[],"formDataEntries":[]}]]></TemplafySlideFormConfiguration>
</file>

<file path=customXml/item60.xml><?xml version="1.0" encoding="utf-8"?>
<TemplafySlideTemplateConfiguration><![CDATA[{"slideVersion":1,"isValidatorEnabled":false,"isLocked":false,"elementsMetadata":[],"slideId":"637629098472281739","enableDocumentContentUpdater":true,"version":"2.0"}]]></TemplafySlideTemplateConfiguration>
</file>

<file path=customXml/item61.xml><?xml version="1.0" encoding="utf-8"?>
<TemplafySlideFormConfiguration><![CDATA[{"formFields":[],"formDataEntries":[]}]]></TemplafySlideFormConfiguration>
</file>

<file path=customXml/item62.xml><?xml version="1.0" encoding="utf-8"?>
<TemplafySlideFormConfiguration><![CDATA[{"formFields":[],"formDataEntries":[]}]]></TemplafySlideFormConfiguration>
</file>

<file path=customXml/item63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4A3B424B-F222-410E-80C1-5C7CBB603D66}">
  <ds:schemaRefs/>
</ds:datastoreItem>
</file>

<file path=customXml/itemProps2.xml><?xml version="1.0" encoding="utf-8"?>
<ds:datastoreItem xmlns:ds="http://schemas.openxmlformats.org/officeDocument/2006/customXml" ds:itemID="{CB59157B-BA3A-45A2-8099-06168B9647D4}">
  <ds:schemaRefs/>
</ds:datastoreItem>
</file>

<file path=customXml/itemProps3.xml><?xml version="1.0" encoding="utf-8"?>
<ds:datastoreItem xmlns:ds="http://schemas.openxmlformats.org/officeDocument/2006/customXml" ds:itemID="{39047231-9940-4496-9CC2-2CFFC3760C3B}">
  <ds:schemaRefs/>
</ds:datastoreItem>
</file>

<file path=customXml/itemProps4.xml><?xml version="1.0" encoding="utf-8"?>
<ds:datastoreItem xmlns:ds="http://schemas.openxmlformats.org/officeDocument/2006/customXml" ds:itemID="{3F169137-A922-4A26-80E7-FAB9CC926990}">
  <ds:schemaRefs/>
</ds:datastoreItem>
</file>

<file path=customXml/itemProps5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schemas.microsoft.com/office/2006/documentManagement/types"/>
    <ds:schemaRef ds:uri="http://schemas.microsoft.com/sharepoint/v3"/>
    <ds:schemaRef ds:uri="e4aa919a-b200-49cb-beca-4c7e0810321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06670dda-0291-4061-b6e0-f6c0cb392c51"/>
    <ds:schemaRef ds:uri="http://www.w3.org/XML/1998/namespace"/>
    <ds:schemaRef ds:uri="http://purl.org/dc/terms/"/>
  </ds:schemaRefs>
</ds:datastoreItem>
</file>

<file path=customXml/itemProps6.xml><?xml version="1.0" encoding="utf-8"?>
<ds:datastoreItem xmlns:ds="http://schemas.openxmlformats.org/officeDocument/2006/customXml" ds:itemID="{668E4936-4C6F-423E-9954-79FA2D147C16}">
  <ds:schemaRefs/>
</ds:datastoreItem>
</file>

<file path=customXml/itemProps7.xml><?xml version="1.0" encoding="utf-8"?>
<ds:datastoreItem xmlns:ds="http://schemas.openxmlformats.org/officeDocument/2006/customXml" ds:itemID="{7CFDE471-7CD9-43CE-9ACE-248F4FA7DF53}">
  <ds:schemaRefs/>
</ds:datastoreItem>
</file>

<file path=customXml/itemProps8.xml><?xml version="1.0" encoding="utf-8"?>
<ds:datastoreItem xmlns:ds="http://schemas.openxmlformats.org/officeDocument/2006/customXml" ds:itemID="{B4048335-6E68-4766-A360-C017FF6106C7}">
  <ds:schemaRefs/>
</ds:datastoreItem>
</file>

<file path=customXml/itemProps9.xml><?xml version="1.0" encoding="utf-8"?>
<ds:datastoreItem xmlns:ds="http://schemas.openxmlformats.org/officeDocument/2006/customXml" ds:itemID="{74C8FEC0-888A-40BB-946C-4A8544A6304B}">
  <ds:schemaRefs/>
</ds:datastoreItem>
</file>

<file path=customXml/itemProps10.xml><?xml version="1.0" encoding="utf-8"?>
<ds:datastoreItem xmlns:ds="http://schemas.openxmlformats.org/officeDocument/2006/customXml" ds:itemID="{E4185C24-1447-4288-BCBB-7ABBF03479A8}">
  <ds:schemaRefs/>
</ds:datastoreItem>
</file>

<file path=customXml/itemProps11.xml><?xml version="1.0" encoding="utf-8"?>
<ds:datastoreItem xmlns:ds="http://schemas.openxmlformats.org/officeDocument/2006/customXml" ds:itemID="{5A65AED0-3BEF-4C5D-8F48-87B6845C0569}">
  <ds:schemaRefs/>
</ds:datastoreItem>
</file>

<file path=customXml/itemProps12.xml><?xml version="1.0" encoding="utf-8"?>
<ds:datastoreItem xmlns:ds="http://schemas.openxmlformats.org/officeDocument/2006/customXml" ds:itemID="{1E66EDE9-6AFA-446F-AF89-E3998A5C25DC}">
  <ds:schemaRefs/>
</ds:datastoreItem>
</file>

<file path=customXml/itemProps13.xml><?xml version="1.0" encoding="utf-8"?>
<ds:datastoreItem xmlns:ds="http://schemas.openxmlformats.org/officeDocument/2006/customXml" ds:itemID="{42B36AE6-17EF-4934-A45B-79F242C9233F}">
  <ds:schemaRefs/>
</ds:datastoreItem>
</file>

<file path=customXml/itemProps14.xml><?xml version="1.0" encoding="utf-8"?>
<ds:datastoreItem xmlns:ds="http://schemas.openxmlformats.org/officeDocument/2006/customXml" ds:itemID="{52B9228B-21CE-45A5-9150-41541C04C020}">
  <ds:schemaRefs/>
</ds:datastoreItem>
</file>

<file path=customXml/itemProps15.xml><?xml version="1.0" encoding="utf-8"?>
<ds:datastoreItem xmlns:ds="http://schemas.openxmlformats.org/officeDocument/2006/customXml" ds:itemID="{D253A4FF-95F5-4E13-AB53-6E37037569D1}">
  <ds:schemaRefs/>
</ds:datastoreItem>
</file>

<file path=customXml/itemProps16.xml><?xml version="1.0" encoding="utf-8"?>
<ds:datastoreItem xmlns:ds="http://schemas.openxmlformats.org/officeDocument/2006/customXml" ds:itemID="{58020A67-392C-5041-AE76-684CB4F51378}">
  <ds:schemaRefs/>
</ds:datastoreItem>
</file>

<file path=customXml/itemProps17.xml><?xml version="1.0" encoding="utf-8"?>
<ds:datastoreItem xmlns:ds="http://schemas.openxmlformats.org/officeDocument/2006/customXml" ds:itemID="{43BC5722-1D5B-4915-8247-E6D5F513E549}">
  <ds:schemaRefs/>
</ds:datastoreItem>
</file>

<file path=customXml/itemProps18.xml><?xml version="1.0" encoding="utf-8"?>
<ds:datastoreItem xmlns:ds="http://schemas.openxmlformats.org/officeDocument/2006/customXml" ds:itemID="{F66D9643-CE4D-403E-8C87-77A28D104661}">
  <ds:schemaRefs/>
</ds:datastoreItem>
</file>

<file path=customXml/itemProps19.xml><?xml version="1.0" encoding="utf-8"?>
<ds:datastoreItem xmlns:ds="http://schemas.openxmlformats.org/officeDocument/2006/customXml" ds:itemID="{996B8092-0564-4B06-923E-E3E5EA0DA092}">
  <ds:schemaRefs/>
</ds:datastoreItem>
</file>

<file path=customXml/itemProps20.xml><?xml version="1.0" encoding="utf-8"?>
<ds:datastoreItem xmlns:ds="http://schemas.openxmlformats.org/officeDocument/2006/customXml" ds:itemID="{6EE67217-AAA1-405B-A75F-D977A4EA3596}">
  <ds:schemaRefs/>
</ds:datastoreItem>
</file>

<file path=customXml/itemProps21.xml><?xml version="1.0" encoding="utf-8"?>
<ds:datastoreItem xmlns:ds="http://schemas.openxmlformats.org/officeDocument/2006/customXml" ds:itemID="{96078763-D75A-44E2-B2E6-A315926C3126}">
  <ds:schemaRefs/>
</ds:datastoreItem>
</file>

<file path=customXml/itemProps22.xml><?xml version="1.0" encoding="utf-8"?>
<ds:datastoreItem xmlns:ds="http://schemas.openxmlformats.org/officeDocument/2006/customXml" ds:itemID="{89EED34D-F6A3-4BD0-BD67-DFAAFFC65336}">
  <ds:schemaRefs/>
</ds:datastoreItem>
</file>

<file path=customXml/itemProps23.xml><?xml version="1.0" encoding="utf-8"?>
<ds:datastoreItem xmlns:ds="http://schemas.openxmlformats.org/officeDocument/2006/customXml" ds:itemID="{2344DAD7-8BFF-4ACD-BBA3-74F6ADFFD128}">
  <ds:schemaRefs/>
</ds:datastoreItem>
</file>

<file path=customXml/itemProps24.xml><?xml version="1.0" encoding="utf-8"?>
<ds:datastoreItem xmlns:ds="http://schemas.openxmlformats.org/officeDocument/2006/customXml" ds:itemID="{3EA6D134-2F17-40CD-A85C-2CF97EA6954F}">
  <ds:schemaRefs/>
</ds:datastoreItem>
</file>

<file path=customXml/itemProps25.xml><?xml version="1.0" encoding="utf-8"?>
<ds:datastoreItem xmlns:ds="http://schemas.openxmlformats.org/officeDocument/2006/customXml" ds:itemID="{174D1DE4-3232-4C09-81D8-D287631DA0E9}">
  <ds:schemaRefs/>
</ds:datastoreItem>
</file>

<file path=customXml/itemProps26.xml><?xml version="1.0" encoding="utf-8"?>
<ds:datastoreItem xmlns:ds="http://schemas.openxmlformats.org/officeDocument/2006/customXml" ds:itemID="{8F397F8F-7EDC-994F-A696-92B6C094C93E}">
  <ds:schemaRefs/>
</ds:datastoreItem>
</file>

<file path=customXml/itemProps27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8.xml><?xml version="1.0" encoding="utf-8"?>
<ds:datastoreItem xmlns:ds="http://schemas.openxmlformats.org/officeDocument/2006/customXml" ds:itemID="{3A7B4B56-D0D2-4135-A66A-EEF2C62C4256}">
  <ds:schemaRefs/>
</ds:datastoreItem>
</file>

<file path=customXml/itemProps29.xml><?xml version="1.0" encoding="utf-8"?>
<ds:datastoreItem xmlns:ds="http://schemas.openxmlformats.org/officeDocument/2006/customXml" ds:itemID="{BB902368-12DD-4C9D-B764-FF07221390DA}">
  <ds:schemaRefs/>
</ds:datastoreItem>
</file>

<file path=customXml/itemProps30.xml><?xml version="1.0" encoding="utf-8"?>
<ds:datastoreItem xmlns:ds="http://schemas.openxmlformats.org/officeDocument/2006/customXml" ds:itemID="{DEAD617C-938E-46B7-8782-EF509E44F054}">
  <ds:schemaRefs/>
</ds:datastoreItem>
</file>

<file path=customXml/itemProps31.xml><?xml version="1.0" encoding="utf-8"?>
<ds:datastoreItem xmlns:ds="http://schemas.openxmlformats.org/officeDocument/2006/customXml" ds:itemID="{E0D6E706-8A91-46F7-8A8F-C34A1C60AAEF}">
  <ds:schemaRefs/>
</ds:datastoreItem>
</file>

<file path=customXml/itemProps32.xml><?xml version="1.0" encoding="utf-8"?>
<ds:datastoreItem xmlns:ds="http://schemas.openxmlformats.org/officeDocument/2006/customXml" ds:itemID="{489A0BE5-92F6-4FE6-AE01-353A0023001F}">
  <ds:schemaRefs/>
</ds:datastoreItem>
</file>

<file path=customXml/itemProps33.xml><?xml version="1.0" encoding="utf-8"?>
<ds:datastoreItem xmlns:ds="http://schemas.openxmlformats.org/officeDocument/2006/customXml" ds:itemID="{0B4EDEF2-4914-42F4-B0ED-75280D163F4A}">
  <ds:schemaRefs/>
</ds:datastoreItem>
</file>

<file path=customXml/itemProps34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5.xml><?xml version="1.0" encoding="utf-8"?>
<ds:datastoreItem xmlns:ds="http://schemas.openxmlformats.org/officeDocument/2006/customXml" ds:itemID="{3F8E02AC-FDB5-4D5E-86CE-40FD3E2ACE94}">
  <ds:schemaRefs/>
</ds:datastoreItem>
</file>

<file path=customXml/itemProps36.xml><?xml version="1.0" encoding="utf-8"?>
<ds:datastoreItem xmlns:ds="http://schemas.openxmlformats.org/officeDocument/2006/customXml" ds:itemID="{2CC9EE11-963B-4792-8C18-124591009C1C}">
  <ds:schemaRefs/>
</ds:datastoreItem>
</file>

<file path=customXml/itemProps37.xml><?xml version="1.0" encoding="utf-8"?>
<ds:datastoreItem xmlns:ds="http://schemas.openxmlformats.org/officeDocument/2006/customXml" ds:itemID="{70E7B92A-6DBD-46AF-A7B3-3B8C39336BA7}">
  <ds:schemaRefs/>
</ds:datastoreItem>
</file>

<file path=customXml/itemProps38.xml><?xml version="1.0" encoding="utf-8"?>
<ds:datastoreItem xmlns:ds="http://schemas.openxmlformats.org/officeDocument/2006/customXml" ds:itemID="{33041E32-BB17-453B-A365-D886F183EE44}">
  <ds:schemaRefs/>
</ds:datastoreItem>
</file>

<file path=customXml/itemProps39.xml><?xml version="1.0" encoding="utf-8"?>
<ds:datastoreItem xmlns:ds="http://schemas.openxmlformats.org/officeDocument/2006/customXml" ds:itemID="{A2F9A0F1-960C-47F9-ABFC-2B7B0F8C0554}">
  <ds:schemaRefs/>
</ds:datastoreItem>
</file>

<file path=customXml/itemProps40.xml><?xml version="1.0" encoding="utf-8"?>
<ds:datastoreItem xmlns:ds="http://schemas.openxmlformats.org/officeDocument/2006/customXml" ds:itemID="{492EE822-79BF-4039-BF53-4DFB6ACACBFF}">
  <ds:schemaRefs/>
</ds:datastoreItem>
</file>

<file path=customXml/itemProps41.xml><?xml version="1.0" encoding="utf-8"?>
<ds:datastoreItem xmlns:ds="http://schemas.openxmlformats.org/officeDocument/2006/customXml" ds:itemID="{A6B37C8F-637E-4226-9FB3-E0066A53CCB0}">
  <ds:schemaRefs/>
</ds:datastoreItem>
</file>

<file path=customXml/itemProps42.xml><?xml version="1.0" encoding="utf-8"?>
<ds:datastoreItem xmlns:ds="http://schemas.openxmlformats.org/officeDocument/2006/customXml" ds:itemID="{BBAE614C-455B-47F1-85DF-E757B7CA2EB6}">
  <ds:schemaRefs/>
</ds:datastoreItem>
</file>

<file path=customXml/itemProps43.xml><?xml version="1.0" encoding="utf-8"?>
<ds:datastoreItem xmlns:ds="http://schemas.openxmlformats.org/officeDocument/2006/customXml" ds:itemID="{1E693357-7EF7-4D46-B7E8-8A3DA05F389E}">
  <ds:schemaRefs/>
</ds:datastoreItem>
</file>

<file path=customXml/itemProps44.xml><?xml version="1.0" encoding="utf-8"?>
<ds:datastoreItem xmlns:ds="http://schemas.openxmlformats.org/officeDocument/2006/customXml" ds:itemID="{9A257C24-588C-4CA7-9B7F-C2528B9DD2ED}">
  <ds:schemaRefs/>
</ds:datastoreItem>
</file>

<file path=customXml/itemProps45.xml><?xml version="1.0" encoding="utf-8"?>
<ds:datastoreItem xmlns:ds="http://schemas.openxmlformats.org/officeDocument/2006/customXml" ds:itemID="{FF2A7D79-D7BB-42BA-8338-B18A3F711A7B}">
  <ds:schemaRefs/>
</ds:datastoreItem>
</file>

<file path=customXml/itemProps46.xml><?xml version="1.0" encoding="utf-8"?>
<ds:datastoreItem xmlns:ds="http://schemas.openxmlformats.org/officeDocument/2006/customXml" ds:itemID="{F91A0867-35A7-4CBF-94F6-D7FB298BEB8C}">
  <ds:schemaRefs/>
</ds:datastoreItem>
</file>

<file path=customXml/itemProps47.xml><?xml version="1.0" encoding="utf-8"?>
<ds:datastoreItem xmlns:ds="http://schemas.openxmlformats.org/officeDocument/2006/customXml" ds:itemID="{891D8673-EFC2-4CD6-BE6A-7C04FAD6C358}">
  <ds:schemaRefs/>
</ds:datastoreItem>
</file>

<file path=customXml/itemProps48.xml><?xml version="1.0" encoding="utf-8"?>
<ds:datastoreItem xmlns:ds="http://schemas.openxmlformats.org/officeDocument/2006/customXml" ds:itemID="{6291F803-2EF0-4E47-96D6-4796950CE6BD}">
  <ds:schemaRefs/>
</ds:datastoreItem>
</file>

<file path=customXml/itemProps49.xml><?xml version="1.0" encoding="utf-8"?>
<ds:datastoreItem xmlns:ds="http://schemas.openxmlformats.org/officeDocument/2006/customXml" ds:itemID="{9F91A016-C5D7-4594-84B1-B85BD0447352}">
  <ds:schemaRefs/>
</ds:datastoreItem>
</file>

<file path=customXml/itemProps50.xml><?xml version="1.0" encoding="utf-8"?>
<ds:datastoreItem xmlns:ds="http://schemas.openxmlformats.org/officeDocument/2006/customXml" ds:itemID="{0B0E439A-7067-4B53-AA5A-2CBB2C8CBE21}">
  <ds:schemaRefs/>
</ds:datastoreItem>
</file>

<file path=customXml/itemProps51.xml><?xml version="1.0" encoding="utf-8"?>
<ds:datastoreItem xmlns:ds="http://schemas.openxmlformats.org/officeDocument/2006/customXml" ds:itemID="{307A5E8D-54ED-4E32-8D7A-AAE9216E2C6D}">
  <ds:schemaRefs/>
</ds:datastoreItem>
</file>

<file path=customXml/itemProps52.xml><?xml version="1.0" encoding="utf-8"?>
<ds:datastoreItem xmlns:ds="http://schemas.openxmlformats.org/officeDocument/2006/customXml" ds:itemID="{6FDEE764-9000-4458-9E78-C60855F5EDCF}">
  <ds:schemaRefs/>
</ds:datastoreItem>
</file>

<file path=customXml/itemProps53.xml><?xml version="1.0" encoding="utf-8"?>
<ds:datastoreItem xmlns:ds="http://schemas.openxmlformats.org/officeDocument/2006/customXml" ds:itemID="{78C916E8-212D-4866-B8ED-29D7FE89AEE7}">
  <ds:schemaRefs/>
</ds:datastoreItem>
</file>

<file path=customXml/itemProps54.xml><?xml version="1.0" encoding="utf-8"?>
<ds:datastoreItem xmlns:ds="http://schemas.openxmlformats.org/officeDocument/2006/customXml" ds:itemID="{38129174-1EFD-407E-AEBF-44870F715493}">
  <ds:schemaRefs/>
</ds:datastoreItem>
</file>

<file path=customXml/itemProps55.xml><?xml version="1.0" encoding="utf-8"?>
<ds:datastoreItem xmlns:ds="http://schemas.openxmlformats.org/officeDocument/2006/customXml" ds:itemID="{EBCF7816-C29E-40FC-8F56-1A308E0AB260}">
  <ds:schemaRefs/>
</ds:datastoreItem>
</file>

<file path=customXml/itemProps56.xml><?xml version="1.0" encoding="utf-8"?>
<ds:datastoreItem xmlns:ds="http://schemas.openxmlformats.org/officeDocument/2006/customXml" ds:itemID="{D2814F53-E0D8-4755-9559-176DDC8FC725}">
  <ds:schemaRefs/>
</ds:datastoreItem>
</file>

<file path=customXml/itemProps57.xml><?xml version="1.0" encoding="utf-8"?>
<ds:datastoreItem xmlns:ds="http://schemas.openxmlformats.org/officeDocument/2006/customXml" ds:itemID="{EE884A63-BFD6-4412-8B8B-585264C575F2}">
  <ds:schemaRefs/>
</ds:datastoreItem>
</file>

<file path=customXml/itemProps58.xml><?xml version="1.0" encoding="utf-8"?>
<ds:datastoreItem xmlns:ds="http://schemas.openxmlformats.org/officeDocument/2006/customXml" ds:itemID="{010468DE-BA7E-4E5E-B1CA-28ED269D9DDD}">
  <ds:schemaRefs/>
</ds:datastoreItem>
</file>

<file path=customXml/itemProps59.xml><?xml version="1.0" encoding="utf-8"?>
<ds:datastoreItem xmlns:ds="http://schemas.openxmlformats.org/officeDocument/2006/customXml" ds:itemID="{799718E2-4AB9-4981-8334-26C7305F8929}">
  <ds:schemaRefs/>
</ds:datastoreItem>
</file>

<file path=customXml/itemProps60.xml><?xml version="1.0" encoding="utf-8"?>
<ds:datastoreItem xmlns:ds="http://schemas.openxmlformats.org/officeDocument/2006/customXml" ds:itemID="{B75F16DD-F239-4706-8559-A5E2B745D790}">
  <ds:schemaRefs/>
</ds:datastoreItem>
</file>

<file path=customXml/itemProps61.xml><?xml version="1.0" encoding="utf-8"?>
<ds:datastoreItem xmlns:ds="http://schemas.openxmlformats.org/officeDocument/2006/customXml" ds:itemID="{009FB66F-7FA3-454F-BDF2-BE625C6C074B}">
  <ds:schemaRefs/>
</ds:datastoreItem>
</file>

<file path=customXml/itemProps62.xml><?xml version="1.0" encoding="utf-8"?>
<ds:datastoreItem xmlns:ds="http://schemas.openxmlformats.org/officeDocument/2006/customXml" ds:itemID="{BAA4F3A6-D566-47C2-A78D-C95CDD9B7B68}">
  <ds:schemaRefs/>
</ds:datastoreItem>
</file>

<file path=customXml/itemProps63.xml><?xml version="1.0" encoding="utf-8"?>
<ds:datastoreItem xmlns:ds="http://schemas.openxmlformats.org/officeDocument/2006/customXml" ds:itemID="{5512705F-00BE-42B7-9EA0-AF2B182903FD}">
  <ds:schemaRefs/>
</ds:datastoreItem>
</file>

<file path=docMetadata/LabelInfo.xml><?xml version="1.0" encoding="utf-8"?>
<clbl:labelList xmlns:clbl="http://schemas.microsoft.com/office/2020/mipLabelMetadata">
  <clbl:label id="{3dd8961f-e488-4e60-8e11-a82d994e183d}" enabled="0" method="" siteId="{3dd8961f-e488-4e60-8e11-a82d994e183d}" actionId="{a72ea22f-0cc6-4192-9a0a-69cef1d5e79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1054</Words>
  <Application>Microsoft Office PowerPoint</Application>
  <PresentationFormat>Widescreen</PresentationFormat>
  <Paragraphs>331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CiscoSansTT Light</vt:lpstr>
      <vt:lpstr>Consolas</vt:lpstr>
      <vt:lpstr>Segoe UI</vt:lpstr>
      <vt:lpstr>Wingdings</vt:lpstr>
      <vt:lpstr>AMD Corporate Template_Dark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Corporate Presentation Color Palette</vt:lpstr>
      <vt:lpstr>Block Diagram Color Palette</vt:lpstr>
      <vt:lpstr>Image Boxes (Corporate PPT)</vt:lpstr>
      <vt:lpstr>Image Boxes (Neutral &amp; Product Palette Examples)</vt:lpstr>
      <vt:lpstr>Product Boxes (Corporate PPT)</vt:lpstr>
      <vt:lpstr>Product Boxes (Neutral &amp; Product Palette Examples)</vt:lpstr>
      <vt:lpstr>Text Boxes (Corporate PPT)</vt:lpstr>
      <vt:lpstr>Text Boxes (Neutral &amp; Product Palette Examples)</vt:lpstr>
      <vt:lpstr>Diagrams</vt:lpstr>
      <vt:lpstr>Diagrams</vt:lpstr>
      <vt:lpstr>Line Chart</vt:lpstr>
      <vt:lpstr>Bar Chart Examples</vt:lpstr>
      <vt:lpstr>Block Diagram  Example</vt:lpstr>
      <vt:lpstr>Floorplan Physical View of Versal (Showing Callouts) </vt:lpstr>
      <vt:lpstr>Block Diagram  Example</vt:lpstr>
      <vt:lpstr>PowerPoint Presentation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Ward, Laura</cp:lastModifiedBy>
  <cp:revision>35</cp:revision>
  <cp:lastPrinted>2020-04-30T18:59:47Z</cp:lastPrinted>
  <dcterms:created xsi:type="dcterms:W3CDTF">2021-04-19T14:31:00Z</dcterms:created>
  <dcterms:modified xsi:type="dcterms:W3CDTF">2024-10-03T14:58:57Z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2021-07-26T15:24:07</vt:lpwstr>
  </property>
  <property fmtid="{D5CDD505-2E9C-101B-9397-08002B2CF9AE}" pid="6" name="MSIP_Label_4342314e-0df4-4b58-84bf-38bed6170a0f_Enabled">
    <vt:lpwstr>true</vt:lpwstr>
  </property>
  <property fmtid="{D5CDD505-2E9C-101B-9397-08002B2CF9AE}" pid="7" name="MSIP_Label_4342314e-0df4-4b58-84bf-38bed6170a0f_SetDate">
    <vt:lpwstr>2024-04-03T19:29:53Z</vt:lpwstr>
  </property>
  <property fmtid="{D5CDD505-2E9C-101B-9397-08002B2CF9AE}" pid="8" name="MSIP_Label_4342314e-0df4-4b58-84bf-38bed6170a0f_Method">
    <vt:lpwstr>Standard</vt:lpwstr>
  </property>
  <property fmtid="{D5CDD505-2E9C-101B-9397-08002B2CF9AE}" pid="9" name="MSIP_Label_4342314e-0df4-4b58-84bf-38bed6170a0f_Name">
    <vt:lpwstr>General</vt:lpwstr>
  </property>
  <property fmtid="{D5CDD505-2E9C-101B-9397-08002B2CF9AE}" pid="10" name="MSIP_Label_4342314e-0df4-4b58-84bf-38bed6170a0f_SiteId">
    <vt:lpwstr>3dd8961f-e488-4e60-8e11-a82d994e183d</vt:lpwstr>
  </property>
  <property fmtid="{D5CDD505-2E9C-101B-9397-08002B2CF9AE}" pid="11" name="MSIP_Label_4342314e-0df4-4b58-84bf-38bed6170a0f_ActionId">
    <vt:lpwstr>35a70717-8365-47db-b5e1-414ae0f16de3</vt:lpwstr>
  </property>
  <property fmtid="{D5CDD505-2E9C-101B-9397-08002B2CF9AE}" pid="12" name="MSIP_Label_4342314e-0df4-4b58-84bf-38bed6170a0f_ContentBits">
    <vt:lpwstr>1</vt:lpwstr>
  </property>
</Properties>
</file>